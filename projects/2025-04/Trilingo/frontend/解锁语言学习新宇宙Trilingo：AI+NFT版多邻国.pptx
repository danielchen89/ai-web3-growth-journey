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2" r:id="rId16"/>
    <p:sldId id="273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709285" y="0"/>
            <a:ext cx="3227882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600075" y="-3267075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0" y="2469852"/>
            <a:ext cx="4632705" cy="1686859"/>
          </a:xfrm>
          <a:custGeom>
            <a:avLst/>
            <a:gdLst>
              <a:gd name="connsiteX0" fmla="*/ 0 w 4632705"/>
              <a:gd name="connsiteY0" fmla="*/ 0 h 1686859"/>
              <a:gd name="connsiteX1" fmla="*/ 4632705 w 4632705"/>
              <a:gd name="connsiteY1" fmla="*/ 0 h 1686859"/>
              <a:gd name="connsiteX2" fmla="*/ 4632705 w 4632705"/>
              <a:gd name="connsiteY2" fmla="*/ 1686859 h 1686859"/>
              <a:gd name="connsiteX3" fmla="*/ 0 w 4632705"/>
              <a:gd name="connsiteY3" fmla="*/ 1686859 h 1686859"/>
            </a:gdLst>
            <a:ahLst/>
            <a:cxnLst/>
            <a:rect l="l" t="t" r="r" b="b"/>
            <a:pathLst>
              <a:path w="4632705" h="1686859">
                <a:moveTo>
                  <a:pt x="0" y="0"/>
                </a:moveTo>
                <a:lnTo>
                  <a:pt x="4632705" y="0"/>
                </a:lnTo>
                <a:lnTo>
                  <a:pt x="4632705" y="1686859"/>
                </a:lnTo>
                <a:lnTo>
                  <a:pt x="0" y="168685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68496" y="-10900"/>
            <a:ext cx="6883735" cy="4595094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964118" y="0"/>
            <a:ext cx="3227882" cy="6858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2"/>
              </a:gs>
            </a:gsLst>
            <a:lin ang="90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298575" y="3360956"/>
            <a:ext cx="6883735" cy="3497045"/>
          </a:xfrm>
          <a:custGeom>
            <a:avLst/>
            <a:gdLst>
              <a:gd name="connsiteX0" fmla="*/ 0 w 6883735"/>
              <a:gd name="connsiteY0" fmla="*/ 0 h 3497045"/>
              <a:gd name="connsiteX1" fmla="*/ 6883735 w 6883735"/>
              <a:gd name="connsiteY1" fmla="*/ 0 h 3497045"/>
              <a:gd name="connsiteX2" fmla="*/ 6883735 w 6883735"/>
              <a:gd name="connsiteY2" fmla="*/ 3497045 h 3497045"/>
              <a:gd name="connsiteX3" fmla="*/ 0 w 6883735"/>
              <a:gd name="connsiteY3" fmla="*/ 3497045 h 3497045"/>
            </a:gdLst>
            <a:ahLst/>
            <a:cxnLst/>
            <a:rect l="l" t="t" r="r" b="b"/>
            <a:pathLst>
              <a:path w="6883735" h="3497045">
                <a:moveTo>
                  <a:pt x="0" y="0"/>
                </a:moveTo>
                <a:lnTo>
                  <a:pt x="6883735" y="0"/>
                </a:lnTo>
                <a:lnTo>
                  <a:pt x="6883735" y="3497045"/>
                </a:lnTo>
                <a:lnTo>
                  <a:pt x="0" y="349704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929761" y="0"/>
            <a:ext cx="5262240" cy="1457211"/>
          </a:xfrm>
          <a:custGeom>
            <a:avLst/>
            <a:gdLst>
              <a:gd name="connsiteX0" fmla="*/ 0 w 4629883"/>
              <a:gd name="connsiteY0" fmla="*/ 0 h 1282100"/>
              <a:gd name="connsiteX1" fmla="*/ 4629883 w 4629883"/>
              <a:gd name="connsiteY1" fmla="*/ 0 h 1282100"/>
              <a:gd name="connsiteX2" fmla="*/ 4629883 w 4629883"/>
              <a:gd name="connsiteY2" fmla="*/ 1282100 h 1282100"/>
              <a:gd name="connsiteX3" fmla="*/ 0 w 4629883"/>
              <a:gd name="connsiteY3" fmla="*/ 1282100 h 1282100"/>
            </a:gdLst>
            <a:ahLst/>
            <a:cxnLst/>
            <a:rect l="l" t="t" r="r" b="b"/>
            <a:pathLst>
              <a:path w="4629883" h="1282100">
                <a:moveTo>
                  <a:pt x="0" y="0"/>
                </a:moveTo>
                <a:lnTo>
                  <a:pt x="4629883" y="0"/>
                </a:lnTo>
                <a:lnTo>
                  <a:pt x="4629883" y="1282100"/>
                </a:lnTo>
                <a:lnTo>
                  <a:pt x="0" y="12821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549863" y="1731645"/>
            <a:ext cx="4822206" cy="389018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608748" y="758002"/>
            <a:ext cx="2155767" cy="20020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9608748" y="758002"/>
            <a:ext cx="2155767" cy="389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608748" y="1539465"/>
            <a:ext cx="2155767" cy="12205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620510" y="5179204"/>
            <a:ext cx="1290650" cy="846842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alphaModFix amt="100000"/>
          </a:blip>
          <a:srcRect l="6325" r="6325"/>
          <a:stretch>
            <a:fillRect/>
          </a:stretch>
        </p:blipFill>
        <p:spPr>
          <a:xfrm>
            <a:off x="7110167" y="1954517"/>
            <a:ext cx="4134452" cy="356524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 rot="5400000">
            <a:off x="10939814" y="5129949"/>
            <a:ext cx="540562" cy="937497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77856" y="2850666"/>
            <a:ext cx="5335666" cy="11705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54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39756" y="2255923"/>
            <a:ext cx="5590498" cy="16894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3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解锁语言学习新宇宙：</a:t>
            </a:r>
            <a:br>
              <a:rPr kumimoji="1" lang="en-US" altLang="zh-CN" sz="43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</a:br>
            <a:r>
              <a:rPr kumimoji="1" lang="en-US" altLang="zh-CN" sz="43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Trilingo</a:t>
            </a:r>
            <a:endParaRPr kumimoji="1" lang="en-US" altLang="zh-CN" sz="43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 CN Bold Bold"/>
              <a:ea typeface="Source Han Sans CN Bold Bold"/>
              <a:cs typeface="Source Han Sans CN Bold Bold"/>
            </a:endParaRPr>
          </a:p>
          <a:p>
            <a:pPr algn="l">
              <a:lnSpc>
                <a:spcPct val="130000"/>
              </a:lnSpc>
            </a:pPr>
            <a:r>
              <a:rPr kumimoji="1" lang="en-US" altLang="zh-CN" sz="43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AI+NFT版多邻国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77856" y="4068089"/>
            <a:ext cx="1507868" cy="1615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dist">
              <a:lnSpc>
                <a:spcPct val="10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808080">
                    <a:alpha val="25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PowerPoint design</a:t>
            </a:r>
            <a:endParaRPr kumimoji="1" lang="zh-CN" altLang="en-US"/>
          </a:p>
        </p:txBody>
      </p:sp>
      <p:cxnSp>
        <p:nvCxnSpPr>
          <p:cNvPr id="19" name="标题 1"/>
          <p:cNvCxnSpPr/>
          <p:nvPr/>
        </p:nvCxnSpPr>
        <p:spPr>
          <a:xfrm>
            <a:off x="2108118" y="4156863"/>
            <a:ext cx="1996525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prstDash val="solid"/>
            <a:miter/>
          </a:ln>
        </p:spPr>
      </p:cxnSp>
      <p:sp>
        <p:nvSpPr>
          <p:cNvPr id="20" name="标题 1"/>
          <p:cNvSpPr txBox="1"/>
          <p:nvPr/>
        </p:nvSpPr>
        <p:spPr>
          <a:xfrm>
            <a:off x="477856" y="4621050"/>
            <a:ext cx="2187575" cy="405966"/>
          </a:xfrm>
          <a:prstGeom prst="round2DiagRect">
            <a:avLst>
              <a:gd name="adj1" fmla="val 38943"/>
              <a:gd name="adj2" fmla="val 0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sq">
            <a:solidFill>
              <a:schemeClr val="bg1"/>
            </a:solidFill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158524" y="4708781"/>
            <a:ext cx="1600234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主讲人 Trilingo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624823" y="4550311"/>
            <a:ext cx="386718" cy="386718"/>
          </a:xfrm>
          <a:prstGeom prst="ellipse">
            <a:avLst/>
          </a:prstGeom>
          <a:solidFill>
            <a:schemeClr val="bg1"/>
          </a:solidFill>
          <a:ln w="11430" cap="sq">
            <a:gradFill>
              <a:gsLst>
                <a:gs pos="0">
                  <a:schemeClr val="accent2">
                    <a:lumMod val="50000"/>
                    <a:lumOff val="50000"/>
                  </a:schemeClr>
                </a:gs>
                <a:gs pos="100000">
                  <a:schemeClr val="accent2">
                    <a:lumMod val="50000"/>
                    <a:lumOff val="50000"/>
                    <a:alpha val="20000"/>
                  </a:schemeClr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715608" y="4623362"/>
            <a:ext cx="205146" cy="222224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2700000" scaled="0"/>
          </a:gradFill>
          <a:ln w="9525" cap="sq">
            <a:solidFill>
              <a:schemeClr val="bg1"/>
            </a:solidFill>
            <a:miter/>
          </a:ln>
          <a:effectLst>
            <a:outerShdw blurRad="50800" dist="38100" dir="2700000" algn="tl" rotWithShape="0">
              <a:schemeClr val="accent2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2998555" y="4621050"/>
            <a:ext cx="2187575" cy="405966"/>
          </a:xfrm>
          <a:prstGeom prst="round2DiagRect">
            <a:avLst>
              <a:gd name="adj1" fmla="val 38943"/>
              <a:gd name="adj2" fmla="val 0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sq">
            <a:solidFill>
              <a:schemeClr val="bg1">
                <a:alpha val="100000"/>
              </a:schemeClr>
            </a:solidFill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3684303" y="4708781"/>
            <a:ext cx="1600234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时间：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3145522" y="4550311"/>
            <a:ext cx="386718" cy="386718"/>
          </a:xfrm>
          <a:prstGeom prst="ellipse">
            <a:avLst/>
          </a:prstGeom>
          <a:solidFill>
            <a:schemeClr val="bg1"/>
          </a:solidFill>
          <a:ln w="11430" cap="sq">
            <a:gradFill>
              <a:gsLst>
                <a:gs pos="0">
                  <a:schemeClr val="accent2">
                    <a:lumMod val="50000"/>
                    <a:lumOff val="50000"/>
                  </a:schemeClr>
                </a:gs>
                <a:gs pos="100000">
                  <a:schemeClr val="accent2">
                    <a:lumMod val="50000"/>
                    <a:lumOff val="50000"/>
                    <a:alpha val="20000"/>
                  </a:schemeClr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3236307" y="4623362"/>
            <a:ext cx="205146" cy="222224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2700000" scaled="0"/>
          </a:gradFill>
          <a:ln w="9525" cap="sq">
            <a:solidFill>
              <a:schemeClr val="bg1"/>
            </a:solidFill>
            <a:miter/>
          </a:ln>
          <a:effectLst>
            <a:outerShdw blurRad="50800" dist="38100" dir="2700000" algn="tl" rotWithShape="0">
              <a:schemeClr val="accent2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888507" y="4708781"/>
            <a:ext cx="841783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4283657" y="4708781"/>
            <a:ext cx="841783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2025.4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 flipH="1">
            <a:off x="7552039" y="557950"/>
            <a:ext cx="540562" cy="937497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-18001" y="183972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-18001" y="513755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-18001" y="1143341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5400000">
            <a:off x="1342777" y="-747331"/>
            <a:ext cx="662686" cy="2821194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9000000" scaled="0"/>
          </a:gradFill>
          <a:ln w="9525" cap="flat">
            <a:solidFill>
              <a:srgbClr val="FFFFFF">
                <a:alpha val="100000"/>
              </a:srgbClr>
            </a:solidFill>
            <a:miter/>
          </a:ln>
          <a:effectLst>
            <a:outerShdw blurRad="114300" dist="38100" dir="2700000" algn="tl" rotWithShape="0">
              <a:schemeClr val="accent1">
                <a:alpha val="6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-18001" y="6325849"/>
            <a:ext cx="8727286" cy="2704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-18001" y="6587598"/>
            <a:ext cx="8727286" cy="2704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8" name="标题 1"/>
          <p:cNvSpPr txBox="1"/>
          <p:nvPr/>
        </p:nvSpPr>
        <p:spPr>
          <a:xfrm>
            <a:off x="2015507" y="4835781"/>
            <a:ext cx="841783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>
            <a:off x="625124" y="569216"/>
            <a:ext cx="1600234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Trilingo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18002" y="6541477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18002" y="6697165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117591" y="3765021"/>
            <a:ext cx="333374" cy="33337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117591" y="5033751"/>
            <a:ext cx="333374" cy="33337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14020" y="5045181"/>
            <a:ext cx="333374" cy="33337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14020" y="3776451"/>
            <a:ext cx="333374" cy="33337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10800000">
            <a:off x="-616" y="-325711"/>
            <a:ext cx="12250365" cy="3473882"/>
          </a:xfrm>
          <a:custGeom>
            <a:avLst/>
            <a:gdLst>
              <a:gd name="connsiteX0" fmla="*/ 12250365 w 12250365"/>
              <a:gd name="connsiteY0" fmla="*/ 3871913 h 3871913"/>
              <a:gd name="connsiteX1" fmla="*/ 55675 w 12250365"/>
              <a:gd name="connsiteY1" fmla="*/ 3871913 h 3871913"/>
              <a:gd name="connsiteX2" fmla="*/ 45179 w 12250365"/>
              <a:gd name="connsiteY2" fmla="*/ 3852575 h 3871913"/>
              <a:gd name="connsiteX3" fmla="*/ 0 w 12250365"/>
              <a:gd name="connsiteY3" fmla="*/ 3628797 h 3871913"/>
              <a:gd name="connsiteX4" fmla="*/ 0 w 12250365"/>
              <a:gd name="connsiteY4" fmla="*/ 1082903 h 3871913"/>
              <a:gd name="connsiteX5" fmla="*/ 574903 w 12250365"/>
              <a:gd name="connsiteY5" fmla="*/ 508000 h 3871913"/>
              <a:gd name="connsiteX6" fmla="*/ 10223500 w 12250365"/>
              <a:gd name="connsiteY6" fmla="*/ 508000 h 3871913"/>
              <a:gd name="connsiteX7" fmla="*/ 10775950 w 12250365"/>
              <a:gd name="connsiteY7" fmla="*/ 0 h 3871913"/>
              <a:gd name="connsiteX8" fmla="*/ 11328400 w 12250365"/>
              <a:gd name="connsiteY8" fmla="*/ 508000 h 3871913"/>
              <a:gd name="connsiteX9" fmla="*/ 12250365 w 12250365"/>
              <a:gd name="connsiteY9" fmla="*/ 508000 h 3871913"/>
            </a:gdLst>
            <a:ahLst/>
            <a:cxnLst/>
            <a:rect l="l" t="t" r="r" b="b"/>
            <a:pathLst>
              <a:path w="12250365" h="3871913">
                <a:moveTo>
                  <a:pt x="12250365" y="3871913"/>
                </a:moveTo>
                <a:lnTo>
                  <a:pt x="55675" y="3871913"/>
                </a:lnTo>
                <a:lnTo>
                  <a:pt x="45179" y="3852575"/>
                </a:lnTo>
                <a:cubicBezTo>
                  <a:pt x="16087" y="3783795"/>
                  <a:pt x="0" y="3708174"/>
                  <a:pt x="0" y="3628797"/>
                </a:cubicBezTo>
                <a:lnTo>
                  <a:pt x="0" y="1082903"/>
                </a:lnTo>
                <a:cubicBezTo>
                  <a:pt x="0" y="765393"/>
                  <a:pt x="257393" y="508000"/>
                  <a:pt x="574903" y="508000"/>
                </a:cubicBezTo>
                <a:lnTo>
                  <a:pt x="10223500" y="508000"/>
                </a:lnTo>
                <a:lnTo>
                  <a:pt x="10775950" y="0"/>
                </a:lnTo>
                <a:lnTo>
                  <a:pt x="11328400" y="508000"/>
                </a:lnTo>
                <a:lnTo>
                  <a:pt x="12250365" y="50800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117591" y="3832226"/>
            <a:ext cx="972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0265FC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01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066916" y="3691997"/>
            <a:ext cx="3960000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多邻国的崛起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117591" y="5076826"/>
            <a:ext cx="972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0265FC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02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2066916" y="4948027"/>
            <a:ext cx="3960000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AI在多邻国的应用与优势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614020" y="5076826"/>
            <a:ext cx="972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0265FC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04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558900" y="4948027"/>
            <a:ext cx="3960000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AI+NFT版多邻国的未来蓝图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614020" y="3832226"/>
            <a:ext cx="972000" cy="64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0265FC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03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7558900" y="3703427"/>
            <a:ext cx="3960000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NFT为多邻国带来的变革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rot="10800000">
            <a:off x="-1616600" y="-575553"/>
            <a:ext cx="14106198" cy="3860296"/>
          </a:xfrm>
          <a:custGeom>
            <a:avLst/>
            <a:gdLst>
              <a:gd name="connsiteX0" fmla="*/ 13207039 w 13781942"/>
              <a:gd name="connsiteY0" fmla="*/ 4203700 h 4203700"/>
              <a:gd name="connsiteX1" fmla="*/ 574903 w 13781942"/>
              <a:gd name="connsiteY1" fmla="*/ 4203700 h 4203700"/>
              <a:gd name="connsiteX2" fmla="*/ 0 w 13781942"/>
              <a:gd name="connsiteY2" fmla="*/ 3628797 h 4203700"/>
              <a:gd name="connsiteX3" fmla="*/ 0 w 13781942"/>
              <a:gd name="connsiteY3" fmla="*/ 1082903 h 4203700"/>
              <a:gd name="connsiteX4" fmla="*/ 574903 w 13781942"/>
              <a:gd name="connsiteY4" fmla="*/ 508000 h 4203700"/>
              <a:gd name="connsiteX5" fmla="*/ 10223500 w 13781942"/>
              <a:gd name="connsiteY5" fmla="*/ 508000 h 4203700"/>
              <a:gd name="connsiteX6" fmla="*/ 10775950 w 13781942"/>
              <a:gd name="connsiteY6" fmla="*/ 0 h 4203700"/>
              <a:gd name="connsiteX7" fmla="*/ 11328400 w 13781942"/>
              <a:gd name="connsiteY7" fmla="*/ 508000 h 4203700"/>
              <a:gd name="connsiteX8" fmla="*/ 13207039 w 13781942"/>
              <a:gd name="connsiteY8" fmla="*/ 508000 h 4203700"/>
              <a:gd name="connsiteX9" fmla="*/ 13781942 w 13781942"/>
              <a:gd name="connsiteY9" fmla="*/ 1082903 h 4203700"/>
              <a:gd name="connsiteX10" fmla="*/ 13781942 w 13781942"/>
              <a:gd name="connsiteY10" fmla="*/ 3628797 h 4203700"/>
              <a:gd name="connsiteX11" fmla="*/ 13207039 w 13781942"/>
              <a:gd name="connsiteY11" fmla="*/ 4203700 h 4203700"/>
            </a:gdLst>
            <a:ahLst/>
            <a:cxnLst/>
            <a:rect l="l" t="t" r="r" b="b"/>
            <a:pathLst>
              <a:path w="13781942" h="4203700">
                <a:moveTo>
                  <a:pt x="13207039" y="4203700"/>
                </a:moveTo>
                <a:lnTo>
                  <a:pt x="574903" y="4203700"/>
                </a:lnTo>
                <a:cubicBezTo>
                  <a:pt x="257393" y="4203700"/>
                  <a:pt x="0" y="3946307"/>
                  <a:pt x="0" y="3628797"/>
                </a:cubicBezTo>
                <a:lnTo>
                  <a:pt x="0" y="1082903"/>
                </a:lnTo>
                <a:cubicBezTo>
                  <a:pt x="0" y="765393"/>
                  <a:pt x="257393" y="508000"/>
                  <a:pt x="574903" y="508000"/>
                </a:cubicBezTo>
                <a:lnTo>
                  <a:pt x="10223500" y="508000"/>
                </a:lnTo>
                <a:lnTo>
                  <a:pt x="10775950" y="0"/>
                </a:lnTo>
                <a:lnTo>
                  <a:pt x="11328400" y="508000"/>
                </a:lnTo>
                <a:lnTo>
                  <a:pt x="13207039" y="508000"/>
                </a:lnTo>
                <a:cubicBezTo>
                  <a:pt x="13524549" y="508000"/>
                  <a:pt x="13781942" y="765393"/>
                  <a:pt x="13781942" y="1082903"/>
                </a:cubicBezTo>
                <a:lnTo>
                  <a:pt x="13781942" y="3628797"/>
                </a:lnTo>
                <a:cubicBezTo>
                  <a:pt x="13781942" y="3946307"/>
                  <a:pt x="13524549" y="4203700"/>
                  <a:pt x="13207039" y="4203700"/>
                </a:cubicBezTo>
                <a:close/>
              </a:path>
            </a:pathLst>
          </a:cu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84032" y="1155700"/>
            <a:ext cx="1327659" cy="83099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目录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030232" y="1155700"/>
            <a:ext cx="4083559" cy="83099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5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- </a:t>
            </a:r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CONTENTS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254834" y="0"/>
            <a:ext cx="3227882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flipH="1"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flipH="1">
            <a:off x="7559296" y="5171142"/>
            <a:ext cx="4632705" cy="1686859"/>
          </a:xfrm>
          <a:custGeom>
            <a:avLst/>
            <a:gdLst>
              <a:gd name="connsiteX0" fmla="*/ 0 w 4632705"/>
              <a:gd name="connsiteY0" fmla="*/ 0 h 1686859"/>
              <a:gd name="connsiteX1" fmla="*/ 4632705 w 4632705"/>
              <a:gd name="connsiteY1" fmla="*/ 0 h 1686859"/>
              <a:gd name="connsiteX2" fmla="*/ 4632705 w 4632705"/>
              <a:gd name="connsiteY2" fmla="*/ 1686859 h 1686859"/>
              <a:gd name="connsiteX3" fmla="*/ 0 w 4632705"/>
              <a:gd name="connsiteY3" fmla="*/ 1686859 h 1686859"/>
            </a:gdLst>
            <a:ahLst/>
            <a:cxnLst/>
            <a:rect l="l" t="t" r="r" b="b"/>
            <a:pathLst>
              <a:path w="4632705" h="1686859">
                <a:moveTo>
                  <a:pt x="0" y="0"/>
                </a:moveTo>
                <a:lnTo>
                  <a:pt x="4632705" y="0"/>
                </a:lnTo>
                <a:lnTo>
                  <a:pt x="4632705" y="1686859"/>
                </a:lnTo>
                <a:lnTo>
                  <a:pt x="0" y="168685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>
            <a:off x="5326267" y="-10900"/>
            <a:ext cx="6883735" cy="4595094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flipH="1">
            <a:off x="1" y="0"/>
            <a:ext cx="3227882" cy="6858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2"/>
              </a:gs>
            </a:gsLst>
            <a:lin ang="90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H="1">
            <a:off x="9691" y="3360956"/>
            <a:ext cx="6883735" cy="3497045"/>
          </a:xfrm>
          <a:custGeom>
            <a:avLst/>
            <a:gdLst>
              <a:gd name="connsiteX0" fmla="*/ 0 w 6883735"/>
              <a:gd name="connsiteY0" fmla="*/ 0 h 3497045"/>
              <a:gd name="connsiteX1" fmla="*/ 6883735 w 6883735"/>
              <a:gd name="connsiteY1" fmla="*/ 0 h 3497045"/>
              <a:gd name="connsiteX2" fmla="*/ 6883735 w 6883735"/>
              <a:gd name="connsiteY2" fmla="*/ 3497045 h 3497045"/>
              <a:gd name="connsiteX3" fmla="*/ 0 w 6883735"/>
              <a:gd name="connsiteY3" fmla="*/ 3497045 h 3497045"/>
            </a:gdLst>
            <a:ahLst/>
            <a:cxnLst/>
            <a:rect l="l" t="t" r="r" b="b"/>
            <a:pathLst>
              <a:path w="6883735" h="3497045">
                <a:moveTo>
                  <a:pt x="0" y="0"/>
                </a:moveTo>
                <a:lnTo>
                  <a:pt x="6883735" y="0"/>
                </a:lnTo>
                <a:lnTo>
                  <a:pt x="6883735" y="3497045"/>
                </a:lnTo>
                <a:lnTo>
                  <a:pt x="0" y="349704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flipH="1">
            <a:off x="0" y="0"/>
            <a:ext cx="5262240" cy="1457211"/>
          </a:xfrm>
          <a:custGeom>
            <a:avLst/>
            <a:gdLst>
              <a:gd name="connsiteX0" fmla="*/ 0 w 4629883"/>
              <a:gd name="connsiteY0" fmla="*/ 0 h 1282100"/>
              <a:gd name="connsiteX1" fmla="*/ 4629883 w 4629883"/>
              <a:gd name="connsiteY1" fmla="*/ 0 h 1282100"/>
              <a:gd name="connsiteX2" fmla="*/ 4629883 w 4629883"/>
              <a:gd name="connsiteY2" fmla="*/ 1282100 h 1282100"/>
              <a:gd name="connsiteX3" fmla="*/ 0 w 4629883"/>
              <a:gd name="connsiteY3" fmla="*/ 1282100 h 1282100"/>
            </a:gdLst>
            <a:ahLst/>
            <a:cxnLst/>
            <a:rect l="l" t="t" r="r" b="b"/>
            <a:pathLst>
              <a:path w="4629883" h="1282100">
                <a:moveTo>
                  <a:pt x="0" y="0"/>
                </a:moveTo>
                <a:lnTo>
                  <a:pt x="4629883" y="0"/>
                </a:lnTo>
                <a:lnTo>
                  <a:pt x="4629883" y="1282100"/>
                </a:lnTo>
                <a:lnTo>
                  <a:pt x="0" y="12821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flipH="1">
            <a:off x="819932" y="1731645"/>
            <a:ext cx="4822206" cy="389018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flipH="1">
            <a:off x="427486" y="758002"/>
            <a:ext cx="2155767" cy="20020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flipH="1">
            <a:off x="427486" y="758002"/>
            <a:ext cx="2155767" cy="389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427486" y="1539465"/>
            <a:ext cx="2155767" cy="12205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4280841" y="5179204"/>
            <a:ext cx="1290650" cy="846842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alphaModFix amt="100000"/>
          </a:blip>
          <a:srcRect l="17504" r="17504"/>
          <a:stretch>
            <a:fillRect/>
          </a:stretch>
        </p:blipFill>
        <p:spPr>
          <a:xfrm flipH="1">
            <a:off x="947382" y="1954517"/>
            <a:ext cx="4134452" cy="356524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 rot="16200000" flipH="1">
            <a:off x="711625" y="5129949"/>
            <a:ext cx="540562" cy="937497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flipH="1">
            <a:off x="7638757" y="3015876"/>
            <a:ext cx="3892844" cy="21246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54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368635" y="3343318"/>
            <a:ext cx="5203158" cy="161755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多邻国的崛起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033781" y="5108446"/>
            <a:ext cx="1507868" cy="1615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dist">
              <a:lnSpc>
                <a:spcPct val="10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808080">
                    <a:alpha val="25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PowerPoint design</a:t>
            </a:r>
            <a:endParaRPr kumimoji="1" lang="zh-CN" altLang="en-US"/>
          </a:p>
        </p:txBody>
      </p:sp>
      <p:cxnSp>
        <p:nvCxnSpPr>
          <p:cNvPr id="19" name="标题 1"/>
          <p:cNvCxnSpPr/>
          <p:nvPr/>
        </p:nvCxnSpPr>
        <p:spPr>
          <a:xfrm flipH="1">
            <a:off x="6945420" y="5197220"/>
            <a:ext cx="2965967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prstDash val="solid"/>
            <a:miter/>
          </a:ln>
        </p:spPr>
      </p:cxnSp>
      <p:sp>
        <p:nvSpPr>
          <p:cNvPr id="20" name="标题 1"/>
          <p:cNvSpPr txBox="1"/>
          <p:nvPr/>
        </p:nvSpPr>
        <p:spPr>
          <a:xfrm>
            <a:off x="4099400" y="557950"/>
            <a:ext cx="540562" cy="937497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flipH="1">
            <a:off x="5326267" y="183972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5326267" y="513755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flipH="1">
            <a:off x="5326267" y="1143341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16200000" flipH="1">
            <a:off x="10317964" y="-920868"/>
            <a:ext cx="662686" cy="3121389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9000000" scaled="0"/>
          </a:gradFill>
          <a:ln w="9525" cap="flat">
            <a:solidFill>
              <a:srgbClr val="FFFFFF">
                <a:alpha val="100000"/>
              </a:srgbClr>
            </a:solidFill>
            <a:miter/>
          </a:ln>
          <a:effectLst>
            <a:outerShdw blurRad="114300" dist="38100" dir="2700000" algn="tl" rotWithShape="0">
              <a:schemeClr val="accent1">
                <a:alpha val="6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9741924" y="527148"/>
            <a:ext cx="1814767" cy="225356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flipH="1">
            <a:off x="3482716" y="6325849"/>
            <a:ext cx="8727286" cy="2704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flipH="1">
            <a:off x="3482716" y="6587598"/>
            <a:ext cx="8727286" cy="2704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flipH="1">
            <a:off x="7394609" y="2624409"/>
            <a:ext cx="473606" cy="473606"/>
          </a:xfrm>
          <a:prstGeom prst="ellips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29" name="Group 28"/>
          <p:cNvGrpSpPr/>
          <p:nvPr/>
        </p:nvGrpSpPr>
        <p:grpSpPr>
          <a:xfrm>
            <a:off x="7512025" y="2746507"/>
            <a:ext cx="238772" cy="229410"/>
            <a:chOff x="7512025" y="2746507"/>
            <a:chExt cx="238772" cy="229410"/>
          </a:xfrm>
        </p:grpSpPr>
        <p:cxnSp>
          <p:nvCxnSpPr>
            <p:cNvPr id="30" name="标题 1"/>
            <p:cNvCxnSpPr/>
            <p:nvPr/>
          </p:nvCxnSpPr>
          <p:spPr>
            <a:xfrm>
              <a:off x="7512025" y="2858871"/>
              <a:ext cx="229410" cy="0"/>
            </a:xfrm>
            <a:prstGeom prst="line">
              <a:avLst/>
            </a:prstGeom>
            <a:noFill/>
            <a:ln w="12700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</p:cxnSp>
        <p:cxnSp>
          <p:nvCxnSpPr>
            <p:cNvPr id="31" name="标题 1"/>
            <p:cNvCxnSpPr/>
            <p:nvPr/>
          </p:nvCxnSpPr>
          <p:spPr>
            <a:xfrm flipV="1">
              <a:off x="7661844" y="2858871"/>
              <a:ext cx="88953" cy="117046"/>
            </a:xfrm>
            <a:prstGeom prst="line">
              <a:avLst/>
            </a:prstGeom>
            <a:noFill/>
            <a:ln w="12700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</p:cxnSp>
        <p:cxnSp>
          <p:nvCxnSpPr>
            <p:cNvPr id="32" name="标题 1"/>
            <p:cNvCxnSpPr/>
            <p:nvPr/>
          </p:nvCxnSpPr>
          <p:spPr>
            <a:xfrm>
              <a:off x="7661844" y="2746507"/>
              <a:ext cx="88953" cy="117046"/>
            </a:xfrm>
            <a:prstGeom prst="line">
              <a:avLst/>
            </a:prstGeom>
            <a:noFill/>
            <a:ln w="12700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</p:cxnSp>
      </p:grpSp>
      <p:sp>
        <p:nvSpPr>
          <p:cNvPr id="33" name="标题 1"/>
          <p:cNvSpPr txBox="1"/>
          <p:nvPr/>
        </p:nvSpPr>
        <p:spPr>
          <a:xfrm>
            <a:off x="8221317" y="2443975"/>
            <a:ext cx="2092587" cy="8414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r">
              <a:lnSpc>
                <a:spcPct val="100000"/>
              </a:lnSpc>
            </a:pP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/>
                    </a:gs>
                  </a:gsLst>
                  <a:lin ang="10800000" scaled="0"/>
                </a:gradFill>
                <a:latin typeface="Source Han Sans CN Bold Bold"/>
                <a:ea typeface="Source Han Sans CN Bold Bold"/>
                <a:cs typeface="Source Han Sans CN Bold Bold"/>
              </a:rPr>
              <a:t>P</a:t>
            </a: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/>
                    </a:gs>
                  </a:gsLst>
                  <a:lin ang="10800000" scaled="0"/>
                </a:gradFill>
                <a:latin typeface="Source Han Sans CN Bold Bold"/>
                <a:ea typeface="Source Han Sans CN Bold Bold"/>
                <a:cs typeface="Source Han Sans CN Bold Bold"/>
              </a:rPr>
              <a:t>art</a:t>
            </a: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10348486" y="1291391"/>
            <a:ext cx="1416028" cy="19940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/>
                    </a:gs>
                  </a:gsLst>
                  <a:lin ang="10800000" scaled="0"/>
                </a:gradFill>
                <a:latin typeface="Source Han Sans CN Bold Bold"/>
                <a:ea typeface="Source Han Sans CN Bold Bold"/>
                <a:cs typeface="Source Han Sans CN Bold Bold"/>
              </a:rPr>
              <a:t>01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18002" y="6541477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18002" y="6697165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339548" y="4269850"/>
            <a:ext cx="9454101" cy="1864250"/>
          </a:xfrm>
          <a:prstGeom prst="roundRect">
            <a:avLst>
              <a:gd name="adj" fmla="val 3764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202328" y="1617758"/>
            <a:ext cx="6308511" cy="2892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01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003989" y="1935811"/>
            <a:ext cx="6514911" cy="9676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2011年，多邻国由卡内基梅隆大学计算机科学家路易斯·冯·安（Luis von Ahn）与塞巴斯蒂安·布雷哈特（Sebastian Brudy）共同创立，诞生于互联网时代对便捷、高效且趣味性强的语言学习工具的需求浪潮中。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003990" y="1698762"/>
            <a:ext cx="95416" cy="9541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202328" y="2921772"/>
            <a:ext cx="6308511" cy="2892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02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003989" y="3239825"/>
            <a:ext cx="6514911" cy="9676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上线后，凭借独特魅力迅速积累用户，短短几年间，全球用户突破5亿大关，覆盖近200个国家和地区，成为语言学习领域的佼佼者。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003990" y="3002776"/>
            <a:ext cx="95416" cy="9541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202328" y="4527936"/>
            <a:ext cx="6308511" cy="2892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03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003989" y="4845989"/>
            <a:ext cx="6514911" cy="9676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不断拓展业务，从单纯语言学习平台演变为综合学习应用，提供英语、法语、西班牙语、德语等主流语言课程，还涉足编程、数学、科学等非语言类知识教授。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003990" y="4608940"/>
            <a:ext cx="95416" cy="95416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>
            <a:alphaModFix amt="100000"/>
          </a:blip>
          <a:srcRect l="21727" r="21727"/>
          <a:stretch>
            <a:fillRect/>
          </a:stretch>
        </p:blipFill>
        <p:spPr>
          <a:xfrm>
            <a:off x="679539" y="1479053"/>
            <a:ext cx="4075341" cy="4039151"/>
          </a:xfrm>
          <a:custGeom>
            <a:avLst/>
            <a:gdLst/>
            <a:ahLst/>
            <a:cxnLst/>
            <a:rect l="l" t="t" r="r" b="b"/>
            <a:pathLst>
              <a:path w="4075341" h="4039151">
                <a:moveTo>
                  <a:pt x="138624" y="0"/>
                </a:moveTo>
                <a:lnTo>
                  <a:pt x="3936717" y="0"/>
                </a:lnTo>
                <a:cubicBezTo>
                  <a:pt x="4013277" y="0"/>
                  <a:pt x="4075341" y="62064"/>
                  <a:pt x="4075341" y="138624"/>
                </a:cubicBezTo>
                <a:lnTo>
                  <a:pt x="4075341" y="3900527"/>
                </a:lnTo>
                <a:cubicBezTo>
                  <a:pt x="4075341" y="3977087"/>
                  <a:pt x="4013277" y="4039151"/>
                  <a:pt x="3936717" y="4039151"/>
                </a:cubicBezTo>
                <a:lnTo>
                  <a:pt x="138624" y="4039151"/>
                </a:lnTo>
                <a:cubicBezTo>
                  <a:pt x="62064" y="4039151"/>
                  <a:pt x="0" y="3977087"/>
                  <a:pt x="0" y="3900527"/>
                </a:cubicBezTo>
                <a:lnTo>
                  <a:pt x="0" y="138624"/>
                </a:lnTo>
                <a:cubicBezTo>
                  <a:pt x="0" y="62064"/>
                  <a:pt x="62064" y="0"/>
                  <a:pt x="13862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多邻国的发展历程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18002" y="6541477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18002" y="6697165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504404" y="721887"/>
            <a:ext cx="6214980" cy="6214980"/>
          </a:xfrm>
          <a:prstGeom prst="ellipse">
            <a:avLst/>
          </a:prstGeom>
          <a:noFill/>
          <a:ln w="19050" cap="sq">
            <a:gradFill>
              <a:gsLst>
                <a:gs pos="0">
                  <a:schemeClr val="accent1">
                    <a:alpha val="100000"/>
                  </a:schemeClr>
                </a:gs>
                <a:gs pos="39000">
                  <a:schemeClr val="accent1">
                    <a:alpha val="0"/>
                  </a:schemeClr>
                </a:gs>
              </a:gsLst>
              <a:lin ang="0" scaled="0"/>
            </a:gra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6200000" flipH="1">
            <a:off x="7920622" y="1530602"/>
            <a:ext cx="3846430" cy="469632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110841" y="1672459"/>
            <a:ext cx="5300650" cy="130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36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市场空间广阔：截至2022年，全球在线语言学习市场高达203.4亿美元，并预计以17.9%的CAGR增长速率于2031年达到895.3亿美元。2022年，多邻国月活量为6,000万人，对全球语言学习人群的渗透率约为5%，付费用户数为420万人，对全球语言学习人群的渗透率仅0.35%，未来增长潜力巨大。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1663" y="3339287"/>
            <a:ext cx="5300650" cy="130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36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创新营销策略：采取“社交优先”策略，通过流行文化事件、社交媒体事件等，让粉丝和用户成为品牌传播大使，在TikTok等平台上成为最受关注品牌之一，2023年Q2社交媒体曝光率同比增长150%。针对不同国家有因地制宜的营销策略，如在中国利用B站、小红书、快手、抖音等平台做传播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110841" y="5006114"/>
            <a:ext cx="5300650" cy="130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AI技术赋能：人工智能技术在多邻国APP中广泛应用，如预测题目难度保证用户答题正确率在80%左右，优化提醒内容和时间。多邻国自研的Birdbrain机器学习网络，提高了个性化课程的适配度，能研究学习者语言掌握程度和语言材料难度水平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flipH="1">
            <a:off x="7773665" y="2254502"/>
            <a:ext cx="3157764" cy="3157764"/>
          </a:xfrm>
          <a:prstGeom prst="ellipse">
            <a:avLst/>
          </a:prstGeom>
          <a:solidFill>
            <a:schemeClr val="bg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flipH="1">
            <a:off x="7260388" y="1640891"/>
            <a:ext cx="4475748" cy="4475748"/>
          </a:xfrm>
          <a:prstGeom prst="donut">
            <a:avLst>
              <a:gd name="adj" fmla="val 2690"/>
            </a:avLst>
          </a:prstGeom>
          <a:gradFill>
            <a:gsLst>
              <a:gs pos="25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6646777" y="1640891"/>
            <a:ext cx="613611" cy="613611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3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6197599" y="3323503"/>
            <a:ext cx="613611" cy="613611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3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flipH="1">
            <a:off x="6646777" y="5006114"/>
            <a:ext cx="613611" cy="613611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3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646778" y="1744656"/>
            <a:ext cx="613611" cy="3981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01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197599" y="3431239"/>
            <a:ext cx="613611" cy="3981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02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646778" y="5123771"/>
            <a:ext cx="613611" cy="3981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03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flipH="1">
            <a:off x="8196178" y="2677016"/>
            <a:ext cx="2312737" cy="231273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flipH="1">
            <a:off x="8970593" y="3473384"/>
            <a:ext cx="763907" cy="720000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多邻国的成功因素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254834" y="0"/>
            <a:ext cx="3227882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flipH="1"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flipH="1">
            <a:off x="7559296" y="5171142"/>
            <a:ext cx="4632705" cy="1686859"/>
          </a:xfrm>
          <a:custGeom>
            <a:avLst/>
            <a:gdLst>
              <a:gd name="connsiteX0" fmla="*/ 0 w 4632705"/>
              <a:gd name="connsiteY0" fmla="*/ 0 h 1686859"/>
              <a:gd name="connsiteX1" fmla="*/ 4632705 w 4632705"/>
              <a:gd name="connsiteY1" fmla="*/ 0 h 1686859"/>
              <a:gd name="connsiteX2" fmla="*/ 4632705 w 4632705"/>
              <a:gd name="connsiteY2" fmla="*/ 1686859 h 1686859"/>
              <a:gd name="connsiteX3" fmla="*/ 0 w 4632705"/>
              <a:gd name="connsiteY3" fmla="*/ 1686859 h 1686859"/>
            </a:gdLst>
            <a:ahLst/>
            <a:cxnLst/>
            <a:rect l="l" t="t" r="r" b="b"/>
            <a:pathLst>
              <a:path w="4632705" h="1686859">
                <a:moveTo>
                  <a:pt x="0" y="0"/>
                </a:moveTo>
                <a:lnTo>
                  <a:pt x="4632705" y="0"/>
                </a:lnTo>
                <a:lnTo>
                  <a:pt x="4632705" y="1686859"/>
                </a:lnTo>
                <a:lnTo>
                  <a:pt x="0" y="168685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>
            <a:off x="5326267" y="-10900"/>
            <a:ext cx="6883735" cy="4595094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flipH="1">
            <a:off x="1" y="0"/>
            <a:ext cx="3227882" cy="6858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2"/>
              </a:gs>
            </a:gsLst>
            <a:lin ang="90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H="1">
            <a:off x="9691" y="3360956"/>
            <a:ext cx="6883735" cy="3497045"/>
          </a:xfrm>
          <a:custGeom>
            <a:avLst/>
            <a:gdLst>
              <a:gd name="connsiteX0" fmla="*/ 0 w 6883735"/>
              <a:gd name="connsiteY0" fmla="*/ 0 h 3497045"/>
              <a:gd name="connsiteX1" fmla="*/ 6883735 w 6883735"/>
              <a:gd name="connsiteY1" fmla="*/ 0 h 3497045"/>
              <a:gd name="connsiteX2" fmla="*/ 6883735 w 6883735"/>
              <a:gd name="connsiteY2" fmla="*/ 3497045 h 3497045"/>
              <a:gd name="connsiteX3" fmla="*/ 0 w 6883735"/>
              <a:gd name="connsiteY3" fmla="*/ 3497045 h 3497045"/>
            </a:gdLst>
            <a:ahLst/>
            <a:cxnLst/>
            <a:rect l="l" t="t" r="r" b="b"/>
            <a:pathLst>
              <a:path w="6883735" h="3497045">
                <a:moveTo>
                  <a:pt x="0" y="0"/>
                </a:moveTo>
                <a:lnTo>
                  <a:pt x="6883735" y="0"/>
                </a:lnTo>
                <a:lnTo>
                  <a:pt x="6883735" y="3497045"/>
                </a:lnTo>
                <a:lnTo>
                  <a:pt x="0" y="349704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flipH="1">
            <a:off x="0" y="0"/>
            <a:ext cx="5262240" cy="1457211"/>
          </a:xfrm>
          <a:custGeom>
            <a:avLst/>
            <a:gdLst>
              <a:gd name="connsiteX0" fmla="*/ 0 w 4629883"/>
              <a:gd name="connsiteY0" fmla="*/ 0 h 1282100"/>
              <a:gd name="connsiteX1" fmla="*/ 4629883 w 4629883"/>
              <a:gd name="connsiteY1" fmla="*/ 0 h 1282100"/>
              <a:gd name="connsiteX2" fmla="*/ 4629883 w 4629883"/>
              <a:gd name="connsiteY2" fmla="*/ 1282100 h 1282100"/>
              <a:gd name="connsiteX3" fmla="*/ 0 w 4629883"/>
              <a:gd name="connsiteY3" fmla="*/ 1282100 h 1282100"/>
            </a:gdLst>
            <a:ahLst/>
            <a:cxnLst/>
            <a:rect l="l" t="t" r="r" b="b"/>
            <a:pathLst>
              <a:path w="4629883" h="1282100">
                <a:moveTo>
                  <a:pt x="0" y="0"/>
                </a:moveTo>
                <a:lnTo>
                  <a:pt x="4629883" y="0"/>
                </a:lnTo>
                <a:lnTo>
                  <a:pt x="4629883" y="1282100"/>
                </a:lnTo>
                <a:lnTo>
                  <a:pt x="0" y="12821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flipH="1">
            <a:off x="819932" y="1731645"/>
            <a:ext cx="4822206" cy="389018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flipH="1">
            <a:off x="427486" y="758002"/>
            <a:ext cx="2155767" cy="20020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flipH="1">
            <a:off x="427486" y="758002"/>
            <a:ext cx="2155767" cy="389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427486" y="1539465"/>
            <a:ext cx="2155767" cy="12205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4280841" y="5179204"/>
            <a:ext cx="1290650" cy="846842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alphaModFix amt="100000"/>
          </a:blip>
          <a:srcRect l="17504" r="17504"/>
          <a:stretch>
            <a:fillRect/>
          </a:stretch>
        </p:blipFill>
        <p:spPr>
          <a:xfrm flipH="1">
            <a:off x="947382" y="1954517"/>
            <a:ext cx="4134452" cy="356524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 rot="16200000" flipH="1">
            <a:off x="711625" y="5129949"/>
            <a:ext cx="540562" cy="937497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flipH="1">
            <a:off x="7638757" y="3015876"/>
            <a:ext cx="3892844" cy="21246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54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368635" y="3343318"/>
            <a:ext cx="5203158" cy="161755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  <a:sym typeface="+mn-ea"/>
              </a:rPr>
              <a:t>Trilingo</a:t>
            </a:r>
            <a:r>
              <a:rPr kumimoji="1" lang="en-US" altLang="zh-CN" sz="4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的应用与优势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033781" y="5108446"/>
            <a:ext cx="1507868" cy="1615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dist">
              <a:lnSpc>
                <a:spcPct val="10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808080">
                    <a:alpha val="25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PowerPoint design</a:t>
            </a:r>
            <a:endParaRPr kumimoji="1" lang="zh-CN" altLang="en-US"/>
          </a:p>
        </p:txBody>
      </p:sp>
      <p:cxnSp>
        <p:nvCxnSpPr>
          <p:cNvPr id="19" name="标题 1"/>
          <p:cNvCxnSpPr/>
          <p:nvPr/>
        </p:nvCxnSpPr>
        <p:spPr>
          <a:xfrm flipH="1">
            <a:off x="6945420" y="5197220"/>
            <a:ext cx="2965967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prstDash val="solid"/>
            <a:miter/>
          </a:ln>
        </p:spPr>
      </p:cxnSp>
      <p:sp>
        <p:nvSpPr>
          <p:cNvPr id="20" name="标题 1"/>
          <p:cNvSpPr txBox="1"/>
          <p:nvPr/>
        </p:nvSpPr>
        <p:spPr>
          <a:xfrm>
            <a:off x="4099400" y="557950"/>
            <a:ext cx="540562" cy="937497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flipH="1">
            <a:off x="5326267" y="183972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5326267" y="513755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flipH="1">
            <a:off x="5326267" y="1143341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16200000" flipH="1">
            <a:off x="10317964" y="-920868"/>
            <a:ext cx="662686" cy="3121389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9000000" scaled="0"/>
          </a:gradFill>
          <a:ln w="9525" cap="flat">
            <a:solidFill>
              <a:srgbClr val="FFFFFF">
                <a:alpha val="100000"/>
              </a:srgbClr>
            </a:solidFill>
            <a:miter/>
          </a:ln>
          <a:effectLst>
            <a:outerShdw blurRad="114300" dist="38100" dir="2700000" algn="tl" rotWithShape="0">
              <a:schemeClr val="accent1">
                <a:alpha val="6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9741924" y="527148"/>
            <a:ext cx="1814767" cy="225356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flipH="1">
            <a:off x="3482716" y="6325849"/>
            <a:ext cx="8727286" cy="2704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flipH="1">
            <a:off x="3482716" y="6587598"/>
            <a:ext cx="8727286" cy="2704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flipH="1">
            <a:off x="7394609" y="2624409"/>
            <a:ext cx="473606" cy="473606"/>
          </a:xfrm>
          <a:prstGeom prst="ellips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29" name="Group 28"/>
          <p:cNvGrpSpPr/>
          <p:nvPr/>
        </p:nvGrpSpPr>
        <p:grpSpPr>
          <a:xfrm>
            <a:off x="7512025" y="2746507"/>
            <a:ext cx="238772" cy="229410"/>
            <a:chOff x="7512025" y="2746507"/>
            <a:chExt cx="238772" cy="229410"/>
          </a:xfrm>
        </p:grpSpPr>
        <p:cxnSp>
          <p:nvCxnSpPr>
            <p:cNvPr id="30" name="标题 1"/>
            <p:cNvCxnSpPr/>
            <p:nvPr/>
          </p:nvCxnSpPr>
          <p:spPr>
            <a:xfrm>
              <a:off x="7512025" y="2858871"/>
              <a:ext cx="229410" cy="0"/>
            </a:xfrm>
            <a:prstGeom prst="line">
              <a:avLst/>
            </a:prstGeom>
            <a:noFill/>
            <a:ln w="12700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</p:cxnSp>
        <p:cxnSp>
          <p:nvCxnSpPr>
            <p:cNvPr id="31" name="标题 1"/>
            <p:cNvCxnSpPr/>
            <p:nvPr/>
          </p:nvCxnSpPr>
          <p:spPr>
            <a:xfrm flipV="1">
              <a:off x="7661844" y="2858871"/>
              <a:ext cx="88953" cy="117046"/>
            </a:xfrm>
            <a:prstGeom prst="line">
              <a:avLst/>
            </a:prstGeom>
            <a:noFill/>
            <a:ln w="12700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</p:cxnSp>
        <p:cxnSp>
          <p:nvCxnSpPr>
            <p:cNvPr id="32" name="标题 1"/>
            <p:cNvCxnSpPr/>
            <p:nvPr/>
          </p:nvCxnSpPr>
          <p:spPr>
            <a:xfrm>
              <a:off x="7661844" y="2746507"/>
              <a:ext cx="88953" cy="117046"/>
            </a:xfrm>
            <a:prstGeom prst="line">
              <a:avLst/>
            </a:prstGeom>
            <a:noFill/>
            <a:ln w="12700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</p:cxnSp>
      </p:grpSp>
      <p:sp>
        <p:nvSpPr>
          <p:cNvPr id="33" name="标题 1"/>
          <p:cNvSpPr txBox="1"/>
          <p:nvPr/>
        </p:nvSpPr>
        <p:spPr>
          <a:xfrm>
            <a:off x="8221317" y="2443975"/>
            <a:ext cx="2092587" cy="8414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r">
              <a:lnSpc>
                <a:spcPct val="100000"/>
              </a:lnSpc>
            </a:pP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/>
                    </a:gs>
                  </a:gsLst>
                  <a:lin ang="10800000" scaled="0"/>
                </a:gradFill>
                <a:latin typeface="Source Han Sans CN Bold Bold"/>
                <a:ea typeface="Source Han Sans CN Bold Bold"/>
                <a:cs typeface="Source Han Sans CN Bold Bold"/>
              </a:rPr>
              <a:t>P</a:t>
            </a: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/>
                    </a:gs>
                  </a:gsLst>
                  <a:lin ang="10800000" scaled="0"/>
                </a:gradFill>
                <a:latin typeface="Source Han Sans CN Bold Bold"/>
                <a:ea typeface="Source Han Sans CN Bold Bold"/>
                <a:cs typeface="Source Han Sans CN Bold Bold"/>
              </a:rPr>
              <a:t>art</a:t>
            </a: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10348486" y="1291391"/>
            <a:ext cx="1416028" cy="19940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/>
                    </a:gs>
                  </a:gsLst>
                  <a:lin ang="10800000" scaled="0"/>
                </a:gradFill>
                <a:latin typeface="Source Han Sans CN Bold Bold"/>
                <a:ea typeface="Source Han Sans CN Bold Bold"/>
                <a:cs typeface="Source Han Sans CN Bold Bold"/>
              </a:rPr>
              <a:t>02</a:t>
            </a:r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18002" y="6541477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18002" y="6697165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2027046" y="1524477"/>
            <a:ext cx="1502114" cy="150211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701799" y="3343379"/>
            <a:ext cx="1963548" cy="403718"/>
          </a:xfrm>
          <a:custGeom>
            <a:avLst/>
            <a:gdLst>
              <a:gd name="connsiteX0" fmla="*/ 0 w 1963548"/>
              <a:gd name="connsiteY0" fmla="*/ 0 h 403718"/>
              <a:gd name="connsiteX1" fmla="*/ 1963549 w 1963548"/>
              <a:gd name="connsiteY1" fmla="*/ 0 h 403718"/>
              <a:gd name="connsiteX2" fmla="*/ 1963549 w 1963548"/>
              <a:gd name="connsiteY2" fmla="*/ 403719 h 403718"/>
              <a:gd name="connsiteX3" fmla="*/ 0 w 1963548"/>
              <a:gd name="connsiteY3" fmla="*/ 403719 h 403718"/>
            </a:gdLst>
            <a:ahLst/>
            <a:cxnLst/>
            <a:rect l="l" t="t" r="r" b="b"/>
            <a:pathLst>
              <a:path w="1963548" h="403718">
                <a:moveTo>
                  <a:pt x="0" y="0"/>
                </a:moveTo>
                <a:lnTo>
                  <a:pt x="1963549" y="0"/>
                </a:lnTo>
                <a:lnTo>
                  <a:pt x="1963549" y="403719"/>
                </a:lnTo>
                <a:lnTo>
                  <a:pt x="0" y="403719"/>
                </a:lnTo>
                <a:close/>
              </a:path>
            </a:pathLst>
          </a:custGeom>
          <a:solidFill>
            <a:schemeClr val="accent1"/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701799" y="3343379"/>
            <a:ext cx="814431" cy="403718"/>
          </a:xfrm>
          <a:custGeom>
            <a:avLst/>
            <a:gdLst>
              <a:gd name="connsiteX0" fmla="*/ 0 w 814431"/>
              <a:gd name="connsiteY0" fmla="*/ 0 h 403718"/>
              <a:gd name="connsiteX1" fmla="*/ 814431 w 814431"/>
              <a:gd name="connsiteY1" fmla="*/ 0 h 403718"/>
              <a:gd name="connsiteX2" fmla="*/ 814431 w 814431"/>
              <a:gd name="connsiteY2" fmla="*/ 403719 h 403718"/>
              <a:gd name="connsiteX3" fmla="*/ 0 w 814431"/>
              <a:gd name="connsiteY3" fmla="*/ 403719 h 403718"/>
            </a:gdLst>
            <a:ahLst/>
            <a:cxnLst/>
            <a:rect l="l" t="t" r="r" b="b"/>
            <a:pathLst>
              <a:path w="814431" h="403718">
                <a:moveTo>
                  <a:pt x="0" y="0"/>
                </a:moveTo>
                <a:lnTo>
                  <a:pt x="814431" y="0"/>
                </a:lnTo>
                <a:lnTo>
                  <a:pt x="814431" y="403719"/>
                </a:lnTo>
                <a:lnTo>
                  <a:pt x="0" y="40371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10800000">
            <a:off x="2508365" y="3247256"/>
            <a:ext cx="11360" cy="594218"/>
          </a:xfrm>
          <a:custGeom>
            <a:avLst/>
            <a:gdLst>
              <a:gd name="connsiteX0" fmla="*/ 0 w 11360"/>
              <a:gd name="connsiteY0" fmla="*/ 0 h 594218"/>
              <a:gd name="connsiteX1" fmla="*/ 11360 w 11360"/>
              <a:gd name="connsiteY1" fmla="*/ 0 h 594218"/>
              <a:gd name="connsiteX2" fmla="*/ 11360 w 11360"/>
              <a:gd name="connsiteY2" fmla="*/ 594218 h 594218"/>
              <a:gd name="connsiteX3" fmla="*/ 0 w 11360"/>
              <a:gd name="connsiteY3" fmla="*/ 594218 h 594218"/>
            </a:gdLst>
            <a:ahLst/>
            <a:cxnLst/>
            <a:rect l="l" t="t" r="r" b="b"/>
            <a:pathLst>
              <a:path w="11360" h="594218">
                <a:moveTo>
                  <a:pt x="0" y="0"/>
                </a:moveTo>
                <a:lnTo>
                  <a:pt x="11360" y="0"/>
                </a:lnTo>
                <a:lnTo>
                  <a:pt x="11360" y="594218"/>
                </a:lnTo>
                <a:lnTo>
                  <a:pt x="0" y="59421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463416" y="2050109"/>
            <a:ext cx="629375" cy="495425"/>
          </a:xfrm>
          <a:custGeom>
            <a:avLst/>
            <a:gdLst>
              <a:gd name="connsiteX0" fmla="*/ 181270 w 629375"/>
              <a:gd name="connsiteY0" fmla="*/ 304946 h 495425"/>
              <a:gd name="connsiteX1" fmla="*/ 180379 w 629375"/>
              <a:gd name="connsiteY1" fmla="*/ 304967 h 495425"/>
              <a:gd name="connsiteX2" fmla="*/ 162919 w 629375"/>
              <a:gd name="connsiteY2" fmla="*/ 324171 h 495425"/>
              <a:gd name="connsiteX3" fmla="*/ 162919 w 629375"/>
              <a:gd name="connsiteY3" fmla="*/ 331447 h 495425"/>
              <a:gd name="connsiteX4" fmla="*/ 185779 w 629375"/>
              <a:gd name="connsiteY4" fmla="*/ 346160 h 495425"/>
              <a:gd name="connsiteX5" fmla="*/ 200495 w 629375"/>
              <a:gd name="connsiteY5" fmla="*/ 323297 h 495425"/>
              <a:gd name="connsiteX6" fmla="*/ 181270 w 629375"/>
              <a:gd name="connsiteY6" fmla="*/ 304946 h 495425"/>
              <a:gd name="connsiteX7" fmla="*/ 514209 w 629375"/>
              <a:gd name="connsiteY7" fmla="*/ 278730 h 495425"/>
              <a:gd name="connsiteX8" fmla="*/ 392743 w 629375"/>
              <a:gd name="connsiteY8" fmla="*/ 374854 h 495425"/>
              <a:gd name="connsiteX9" fmla="*/ 349924 w 629375"/>
              <a:gd name="connsiteY9" fmla="*/ 401943 h 495425"/>
              <a:gd name="connsiteX10" fmla="*/ 349924 w 629375"/>
              <a:gd name="connsiteY10" fmla="*/ 404565 h 495425"/>
              <a:gd name="connsiteX11" fmla="*/ 591108 w 629375"/>
              <a:gd name="connsiteY11" fmla="*/ 436023 h 495425"/>
              <a:gd name="connsiteX12" fmla="*/ 514209 w 629375"/>
              <a:gd name="connsiteY12" fmla="*/ 278730 h 495425"/>
              <a:gd name="connsiteX13" fmla="*/ 180396 w 629375"/>
              <a:gd name="connsiteY13" fmla="*/ 268244 h 495425"/>
              <a:gd name="connsiteX14" fmla="*/ 184888 w 629375"/>
              <a:gd name="connsiteY14" fmla="*/ 268353 h 495425"/>
              <a:gd name="connsiteX15" fmla="*/ 233702 w 629375"/>
              <a:gd name="connsiteY15" fmla="*/ 324171 h 495425"/>
              <a:gd name="connsiteX16" fmla="*/ 233702 w 629375"/>
              <a:gd name="connsiteY16" fmla="*/ 337680 h 495425"/>
              <a:gd name="connsiteX17" fmla="*/ 174952 w 629375"/>
              <a:gd name="connsiteY17" fmla="*/ 382920 h 495425"/>
              <a:gd name="connsiteX18" fmla="*/ 129713 w 629375"/>
              <a:gd name="connsiteY18" fmla="*/ 324171 h 495425"/>
              <a:gd name="connsiteX19" fmla="*/ 129529 w 629375"/>
              <a:gd name="connsiteY19" fmla="*/ 320485 h 495425"/>
              <a:gd name="connsiteX20" fmla="*/ 180396 w 629375"/>
              <a:gd name="connsiteY20" fmla="*/ 268244 h 495425"/>
              <a:gd name="connsiteX21" fmla="*/ 311475 w 629375"/>
              <a:gd name="connsiteY21" fmla="*/ 131050 h 495425"/>
              <a:gd name="connsiteX22" fmla="*/ 252053 w 629375"/>
              <a:gd name="connsiteY22" fmla="*/ 167751 h 495425"/>
              <a:gd name="connsiteX23" fmla="*/ 135830 w 629375"/>
              <a:gd name="connsiteY23" fmla="*/ 259506 h 495425"/>
              <a:gd name="connsiteX24" fmla="*/ 112236 w 629375"/>
              <a:gd name="connsiteY24" fmla="*/ 283100 h 495425"/>
              <a:gd name="connsiteX25" fmla="*/ 38833 w 629375"/>
              <a:gd name="connsiteY25" fmla="*/ 442140 h 495425"/>
              <a:gd name="connsiteX26" fmla="*/ 155055 w 629375"/>
              <a:gd name="connsiteY26" fmla="*/ 452627 h 495425"/>
              <a:gd name="connsiteX27" fmla="*/ 279142 w 629375"/>
              <a:gd name="connsiteY27" fmla="*/ 404565 h 495425"/>
              <a:gd name="connsiteX28" fmla="*/ 245936 w 629375"/>
              <a:gd name="connsiteY28" fmla="*/ 384466 h 495425"/>
              <a:gd name="connsiteX29" fmla="*/ 266034 w 629375"/>
              <a:gd name="connsiteY29" fmla="*/ 357377 h 495425"/>
              <a:gd name="connsiteX30" fmla="*/ 314970 w 629375"/>
              <a:gd name="connsiteY30" fmla="*/ 386214 h 495425"/>
              <a:gd name="connsiteX31" fmla="*/ 374392 w 629375"/>
              <a:gd name="connsiteY31" fmla="*/ 350386 h 495425"/>
              <a:gd name="connsiteX32" fmla="*/ 488867 w 629375"/>
              <a:gd name="connsiteY32" fmla="*/ 254263 h 495425"/>
              <a:gd name="connsiteX33" fmla="*/ 371771 w 629375"/>
              <a:gd name="connsiteY33" fmla="*/ 166878 h 495425"/>
              <a:gd name="connsiteX34" fmla="*/ 311475 w 629375"/>
              <a:gd name="connsiteY34" fmla="*/ 131050 h 495425"/>
              <a:gd name="connsiteX35" fmla="*/ 86895 w 629375"/>
              <a:gd name="connsiteY35" fmla="*/ 58520 h 495425"/>
              <a:gd name="connsiteX36" fmla="*/ 35337 w 629375"/>
              <a:gd name="connsiteY36" fmla="*/ 78619 h 495425"/>
              <a:gd name="connsiteX37" fmla="*/ 112236 w 629375"/>
              <a:gd name="connsiteY37" fmla="*/ 236786 h 495425"/>
              <a:gd name="connsiteX38" fmla="*/ 235450 w 629375"/>
              <a:gd name="connsiteY38" fmla="*/ 137167 h 495425"/>
              <a:gd name="connsiteX39" fmla="*/ 275713 w 629375"/>
              <a:gd name="connsiteY39" fmla="*/ 112515 h 495425"/>
              <a:gd name="connsiteX40" fmla="*/ 278268 w 629375"/>
              <a:gd name="connsiteY40" fmla="*/ 113573 h 495425"/>
              <a:gd name="connsiteX41" fmla="*/ 278268 w 629375"/>
              <a:gd name="connsiteY41" fmla="*/ 110951 h 495425"/>
              <a:gd name="connsiteX42" fmla="*/ 275713 w 629375"/>
              <a:gd name="connsiteY42" fmla="*/ 112515 h 495425"/>
              <a:gd name="connsiteX43" fmla="*/ 185688 w 629375"/>
              <a:gd name="connsiteY43" fmla="*/ 75243 h 495425"/>
              <a:gd name="connsiteX44" fmla="*/ 86895 w 629375"/>
              <a:gd name="connsiteY44" fmla="*/ 58520 h 495425"/>
              <a:gd name="connsiteX45" fmla="*/ 450277 w 629375"/>
              <a:gd name="connsiteY45" fmla="*/ 28665 h 495425"/>
              <a:gd name="connsiteX46" fmla="*/ 435562 w 629375"/>
              <a:gd name="connsiteY46" fmla="*/ 51528 h 495425"/>
              <a:gd name="connsiteX47" fmla="*/ 450277 w 629375"/>
              <a:gd name="connsiteY47" fmla="*/ 66241 h 495425"/>
              <a:gd name="connsiteX48" fmla="*/ 473137 w 629375"/>
              <a:gd name="connsiteY48" fmla="*/ 51528 h 495425"/>
              <a:gd name="connsiteX49" fmla="*/ 473137 w 629375"/>
              <a:gd name="connsiteY49" fmla="*/ 43378 h 495425"/>
              <a:gd name="connsiteX50" fmla="*/ 450277 w 629375"/>
              <a:gd name="connsiteY50" fmla="*/ 28665 h 495425"/>
              <a:gd name="connsiteX51" fmla="*/ 549163 w 629375"/>
              <a:gd name="connsiteY51" fmla="*/ 24440 h 495425"/>
              <a:gd name="connsiteX52" fmla="*/ 616450 w 629375"/>
              <a:gd name="connsiteY52" fmla="*/ 57646 h 495425"/>
              <a:gd name="connsiteX53" fmla="*/ 580622 w 629375"/>
              <a:gd name="connsiteY53" fmla="*/ 207075 h 495425"/>
              <a:gd name="connsiteX54" fmla="*/ 536929 w 629375"/>
              <a:gd name="connsiteY54" fmla="*/ 257758 h 495425"/>
              <a:gd name="connsiteX55" fmla="*/ 618197 w 629375"/>
              <a:gd name="connsiteY55" fmla="*/ 456996 h 495425"/>
              <a:gd name="connsiteX56" fmla="*/ 539551 w 629375"/>
              <a:gd name="connsiteY56" fmla="*/ 492824 h 495425"/>
              <a:gd name="connsiteX57" fmla="*/ 314096 w 629375"/>
              <a:gd name="connsiteY57" fmla="*/ 424663 h 495425"/>
              <a:gd name="connsiteX58" fmla="*/ 162046 w 629375"/>
              <a:gd name="connsiteY58" fmla="*/ 484959 h 495425"/>
              <a:gd name="connsiteX59" fmla="*/ 99128 w 629375"/>
              <a:gd name="connsiteY59" fmla="*/ 494571 h 495425"/>
              <a:gd name="connsiteX60" fmla="*/ 11743 w 629375"/>
              <a:gd name="connsiteY60" fmla="*/ 460491 h 495425"/>
              <a:gd name="connsiteX61" fmla="*/ 94759 w 629375"/>
              <a:gd name="connsiteY61" fmla="*/ 260380 h 495425"/>
              <a:gd name="connsiteX62" fmla="*/ 13491 w 629375"/>
              <a:gd name="connsiteY62" fmla="*/ 61142 h 495425"/>
              <a:gd name="connsiteX63" fmla="*/ 317592 w 629375"/>
              <a:gd name="connsiteY63" fmla="*/ 93474 h 495425"/>
              <a:gd name="connsiteX64" fmla="*/ 374392 w 629375"/>
              <a:gd name="connsiteY64" fmla="*/ 66385 h 495425"/>
              <a:gd name="connsiteX65" fmla="*/ 381383 w 629375"/>
              <a:gd name="connsiteY65" fmla="*/ 96096 h 495425"/>
              <a:gd name="connsiteX66" fmla="*/ 346429 w 629375"/>
              <a:gd name="connsiteY66" fmla="*/ 112699 h 495425"/>
              <a:gd name="connsiteX67" fmla="*/ 389248 w 629375"/>
              <a:gd name="connsiteY67" fmla="*/ 139788 h 495425"/>
              <a:gd name="connsiteX68" fmla="*/ 511587 w 629375"/>
              <a:gd name="connsiteY68" fmla="*/ 235038 h 495425"/>
              <a:gd name="connsiteX69" fmla="*/ 551785 w 629375"/>
              <a:gd name="connsiteY69" fmla="*/ 187850 h 495425"/>
              <a:gd name="connsiteX70" fmla="*/ 586739 w 629375"/>
              <a:gd name="connsiteY70" fmla="*/ 75997 h 495425"/>
              <a:gd name="connsiteX71" fmla="*/ 549163 w 629375"/>
              <a:gd name="connsiteY71" fmla="*/ 57646 h 495425"/>
              <a:gd name="connsiteX72" fmla="*/ 453021 w 629375"/>
              <a:gd name="connsiteY72" fmla="*/ 8 h 495425"/>
              <a:gd name="connsiteX73" fmla="*/ 506344 w 629375"/>
              <a:gd name="connsiteY73" fmla="*/ 51528 h 495425"/>
              <a:gd name="connsiteX74" fmla="*/ 506370 w 629375"/>
              <a:gd name="connsiteY74" fmla="*/ 52439 h 495425"/>
              <a:gd name="connsiteX75" fmla="*/ 455660 w 629375"/>
              <a:gd name="connsiteY75" fmla="*/ 104833 h 495425"/>
              <a:gd name="connsiteX76" fmla="*/ 454821 w 629375"/>
              <a:gd name="connsiteY76" fmla="*/ 104854 h 495425"/>
              <a:gd name="connsiteX77" fmla="*/ 401499 w 629375"/>
              <a:gd name="connsiteY77" fmla="*/ 53334 h 495425"/>
              <a:gd name="connsiteX78" fmla="*/ 453021 w 629375"/>
              <a:gd name="connsiteY78" fmla="*/ 8 h 495425"/>
            </a:gdLst>
            <a:ahLst/>
            <a:cxnLst/>
            <a:rect l="l" t="t" r="r" b="b"/>
            <a:pathLst>
              <a:path w="629375" h="495425">
                <a:moveTo>
                  <a:pt x="181270" y="304946"/>
                </a:moveTo>
                <a:cubicBezTo>
                  <a:pt x="180973" y="304946"/>
                  <a:pt x="180676" y="304953"/>
                  <a:pt x="180379" y="304967"/>
                </a:cubicBezTo>
                <a:cubicBezTo>
                  <a:pt x="170251" y="305449"/>
                  <a:pt x="162439" y="314047"/>
                  <a:pt x="162919" y="324171"/>
                </a:cubicBezTo>
                <a:lnTo>
                  <a:pt x="162919" y="331447"/>
                </a:lnTo>
                <a:cubicBezTo>
                  <a:pt x="165174" y="341824"/>
                  <a:pt x="175407" y="348410"/>
                  <a:pt x="185779" y="346160"/>
                </a:cubicBezTo>
                <a:cubicBezTo>
                  <a:pt x="196161" y="343909"/>
                  <a:pt x="202750" y="333673"/>
                  <a:pt x="200495" y="323297"/>
                </a:cubicBezTo>
                <a:cubicBezTo>
                  <a:pt x="199621" y="313211"/>
                  <a:pt x="191389" y="305349"/>
                  <a:pt x="181270" y="304946"/>
                </a:cubicBezTo>
                <a:close/>
                <a:moveTo>
                  <a:pt x="514209" y="278730"/>
                </a:moveTo>
                <a:cubicBezTo>
                  <a:pt x="476677" y="314335"/>
                  <a:pt x="436025" y="346505"/>
                  <a:pt x="392743" y="374854"/>
                </a:cubicBezTo>
                <a:lnTo>
                  <a:pt x="349924" y="401943"/>
                </a:lnTo>
                <a:lnTo>
                  <a:pt x="349924" y="404565"/>
                </a:lnTo>
                <a:cubicBezTo>
                  <a:pt x="471390" y="463987"/>
                  <a:pt x="572757" y="463987"/>
                  <a:pt x="591108" y="436023"/>
                </a:cubicBezTo>
                <a:cubicBezTo>
                  <a:pt x="609459" y="408060"/>
                  <a:pt x="580622" y="346891"/>
                  <a:pt x="514209" y="278730"/>
                </a:cubicBezTo>
                <a:close/>
                <a:moveTo>
                  <a:pt x="180396" y="268244"/>
                </a:moveTo>
                <a:cubicBezTo>
                  <a:pt x="181899" y="268216"/>
                  <a:pt x="183394" y="268252"/>
                  <a:pt x="184888" y="268353"/>
                </a:cubicBezTo>
                <a:cubicBezTo>
                  <a:pt x="213786" y="270288"/>
                  <a:pt x="235641" y="295279"/>
                  <a:pt x="233702" y="324171"/>
                </a:cubicBezTo>
                <a:cubicBezTo>
                  <a:pt x="234287" y="328655"/>
                  <a:pt x="234287" y="333196"/>
                  <a:pt x="233702" y="337680"/>
                </a:cubicBezTo>
                <a:cubicBezTo>
                  <a:pt x="229970" y="366395"/>
                  <a:pt x="203667" y="386651"/>
                  <a:pt x="174952" y="382920"/>
                </a:cubicBezTo>
                <a:cubicBezTo>
                  <a:pt x="146238" y="379188"/>
                  <a:pt x="125982" y="352886"/>
                  <a:pt x="129713" y="324171"/>
                </a:cubicBezTo>
                <a:cubicBezTo>
                  <a:pt x="129608" y="322945"/>
                  <a:pt x="129547" y="321715"/>
                  <a:pt x="129529" y="320485"/>
                </a:cubicBezTo>
                <a:cubicBezTo>
                  <a:pt x="129154" y="292013"/>
                  <a:pt x="151926" y="268624"/>
                  <a:pt x="180396" y="268244"/>
                </a:cubicBezTo>
                <a:close/>
                <a:moveTo>
                  <a:pt x="311475" y="131050"/>
                </a:moveTo>
                <a:cubicBezTo>
                  <a:pt x="291376" y="142410"/>
                  <a:pt x="271278" y="154644"/>
                  <a:pt x="252053" y="167751"/>
                </a:cubicBezTo>
                <a:cubicBezTo>
                  <a:pt x="210894" y="195146"/>
                  <a:pt x="172025" y="225831"/>
                  <a:pt x="135830" y="259506"/>
                </a:cubicBezTo>
                <a:lnTo>
                  <a:pt x="112236" y="283100"/>
                </a:lnTo>
                <a:cubicBezTo>
                  <a:pt x="48445" y="355629"/>
                  <a:pt x="24851" y="421168"/>
                  <a:pt x="38833" y="442140"/>
                </a:cubicBezTo>
                <a:cubicBezTo>
                  <a:pt x="52814" y="463113"/>
                  <a:pt x="96507" y="467482"/>
                  <a:pt x="155055" y="452627"/>
                </a:cubicBezTo>
                <a:cubicBezTo>
                  <a:pt x="198197" y="441642"/>
                  <a:pt x="239854" y="425502"/>
                  <a:pt x="279142" y="404565"/>
                </a:cubicBezTo>
                <a:lnTo>
                  <a:pt x="245936" y="384466"/>
                </a:lnTo>
                <a:lnTo>
                  <a:pt x="266034" y="357377"/>
                </a:lnTo>
                <a:cubicBezTo>
                  <a:pt x="282638" y="367863"/>
                  <a:pt x="298367" y="377476"/>
                  <a:pt x="314970" y="386214"/>
                </a:cubicBezTo>
                <a:cubicBezTo>
                  <a:pt x="334195" y="375728"/>
                  <a:pt x="354294" y="363494"/>
                  <a:pt x="374392" y="350386"/>
                </a:cubicBezTo>
                <a:cubicBezTo>
                  <a:pt x="415481" y="322011"/>
                  <a:pt x="453808" y="289827"/>
                  <a:pt x="488867" y="254263"/>
                </a:cubicBezTo>
                <a:cubicBezTo>
                  <a:pt x="452235" y="222045"/>
                  <a:pt x="413078" y="192822"/>
                  <a:pt x="371771" y="166878"/>
                </a:cubicBezTo>
                <a:cubicBezTo>
                  <a:pt x="351672" y="153770"/>
                  <a:pt x="331573" y="142410"/>
                  <a:pt x="311475" y="131050"/>
                </a:cubicBezTo>
                <a:close/>
                <a:moveTo>
                  <a:pt x="86895" y="58520"/>
                </a:moveTo>
                <a:cubicBezTo>
                  <a:pt x="67527" y="56897"/>
                  <a:pt x="48496" y="64316"/>
                  <a:pt x="35337" y="78619"/>
                </a:cubicBezTo>
                <a:cubicBezTo>
                  <a:pt x="16986" y="106582"/>
                  <a:pt x="45823" y="168625"/>
                  <a:pt x="112236" y="236786"/>
                </a:cubicBezTo>
                <a:cubicBezTo>
                  <a:pt x="150520" y="200272"/>
                  <a:pt x="191731" y="166954"/>
                  <a:pt x="235450" y="137167"/>
                </a:cubicBezTo>
                <a:lnTo>
                  <a:pt x="275713" y="112515"/>
                </a:lnTo>
                <a:lnTo>
                  <a:pt x="278268" y="113573"/>
                </a:lnTo>
                <a:lnTo>
                  <a:pt x="278268" y="110951"/>
                </a:lnTo>
                <a:lnTo>
                  <a:pt x="275713" y="112515"/>
                </a:lnTo>
                <a:lnTo>
                  <a:pt x="185688" y="75243"/>
                </a:lnTo>
                <a:cubicBezTo>
                  <a:pt x="153589" y="66009"/>
                  <a:pt x="120455" y="60376"/>
                  <a:pt x="86895" y="58520"/>
                </a:cubicBezTo>
                <a:close/>
                <a:moveTo>
                  <a:pt x="450277" y="28665"/>
                </a:moveTo>
                <a:cubicBezTo>
                  <a:pt x="439896" y="30916"/>
                  <a:pt x="433307" y="41152"/>
                  <a:pt x="435562" y="51528"/>
                </a:cubicBezTo>
                <a:cubicBezTo>
                  <a:pt x="437161" y="58892"/>
                  <a:pt x="442911" y="64643"/>
                  <a:pt x="450277" y="66241"/>
                </a:cubicBezTo>
                <a:cubicBezTo>
                  <a:pt x="460650" y="68492"/>
                  <a:pt x="470883" y="61905"/>
                  <a:pt x="473137" y="51528"/>
                </a:cubicBezTo>
                <a:cubicBezTo>
                  <a:pt x="473723" y="48843"/>
                  <a:pt x="473723" y="46063"/>
                  <a:pt x="473137" y="43378"/>
                </a:cubicBezTo>
                <a:cubicBezTo>
                  <a:pt x="470883" y="33002"/>
                  <a:pt x="460650" y="26415"/>
                  <a:pt x="450277" y="28665"/>
                </a:cubicBezTo>
                <a:close/>
                <a:moveTo>
                  <a:pt x="549163" y="24440"/>
                </a:moveTo>
                <a:cubicBezTo>
                  <a:pt x="575449" y="24826"/>
                  <a:pt x="600152" y="37022"/>
                  <a:pt x="616450" y="57646"/>
                </a:cubicBezTo>
                <a:cubicBezTo>
                  <a:pt x="639170" y="91726"/>
                  <a:pt x="626062" y="145031"/>
                  <a:pt x="580622" y="207075"/>
                </a:cubicBezTo>
                <a:cubicBezTo>
                  <a:pt x="567330" y="225028"/>
                  <a:pt x="552728" y="241969"/>
                  <a:pt x="536929" y="257758"/>
                </a:cubicBezTo>
                <a:cubicBezTo>
                  <a:pt x="609459" y="331161"/>
                  <a:pt x="650530" y="408060"/>
                  <a:pt x="618197" y="456996"/>
                </a:cubicBezTo>
                <a:cubicBezTo>
                  <a:pt x="599602" y="481306"/>
                  <a:pt x="570101" y="494746"/>
                  <a:pt x="539551" y="492824"/>
                </a:cubicBezTo>
                <a:cubicBezTo>
                  <a:pt x="460144" y="487808"/>
                  <a:pt x="382982" y="464476"/>
                  <a:pt x="314096" y="424663"/>
                </a:cubicBezTo>
                <a:cubicBezTo>
                  <a:pt x="266034" y="450835"/>
                  <a:pt x="214975" y="471074"/>
                  <a:pt x="162046" y="484959"/>
                </a:cubicBezTo>
                <a:cubicBezTo>
                  <a:pt x="141475" y="490403"/>
                  <a:pt x="120381" y="493619"/>
                  <a:pt x="99128" y="494571"/>
                </a:cubicBezTo>
                <a:cubicBezTo>
                  <a:pt x="66078" y="498984"/>
                  <a:pt x="33077" y="486113"/>
                  <a:pt x="11743" y="460491"/>
                </a:cubicBezTo>
                <a:cubicBezTo>
                  <a:pt x="-21463" y="411556"/>
                  <a:pt x="18734" y="334657"/>
                  <a:pt x="94759" y="260380"/>
                </a:cubicBezTo>
                <a:cubicBezTo>
                  <a:pt x="22229" y="186102"/>
                  <a:pt x="-18842" y="110077"/>
                  <a:pt x="13491" y="61142"/>
                </a:cubicBezTo>
                <a:cubicBezTo>
                  <a:pt x="55436" y="-3523"/>
                  <a:pt x="189135" y="27062"/>
                  <a:pt x="317592" y="93474"/>
                </a:cubicBezTo>
                <a:cubicBezTo>
                  <a:pt x="336817" y="82988"/>
                  <a:pt x="356041" y="74249"/>
                  <a:pt x="374392" y="66385"/>
                </a:cubicBezTo>
                <a:lnTo>
                  <a:pt x="381383" y="96096"/>
                </a:lnTo>
                <a:lnTo>
                  <a:pt x="346429" y="112699"/>
                </a:lnTo>
                <a:lnTo>
                  <a:pt x="389248" y="139788"/>
                </a:lnTo>
                <a:cubicBezTo>
                  <a:pt x="432748" y="167876"/>
                  <a:pt x="473688" y="199750"/>
                  <a:pt x="511587" y="235038"/>
                </a:cubicBezTo>
                <a:cubicBezTo>
                  <a:pt x="526443" y="218435"/>
                  <a:pt x="540424" y="202705"/>
                  <a:pt x="551785" y="187850"/>
                </a:cubicBezTo>
                <a:cubicBezTo>
                  <a:pt x="586739" y="138914"/>
                  <a:pt x="600720" y="96970"/>
                  <a:pt x="586739" y="75997"/>
                </a:cubicBezTo>
                <a:cubicBezTo>
                  <a:pt x="577118" y="65176"/>
                  <a:pt x="563616" y="58583"/>
                  <a:pt x="549163" y="57646"/>
                </a:cubicBezTo>
                <a:close/>
                <a:moveTo>
                  <a:pt x="453021" y="8"/>
                </a:moveTo>
                <a:cubicBezTo>
                  <a:pt x="481972" y="-491"/>
                  <a:pt x="505846" y="22576"/>
                  <a:pt x="506344" y="51528"/>
                </a:cubicBezTo>
                <a:cubicBezTo>
                  <a:pt x="506353" y="51832"/>
                  <a:pt x="506361" y="52136"/>
                  <a:pt x="506370" y="52439"/>
                </a:cubicBezTo>
                <a:cubicBezTo>
                  <a:pt x="506833" y="80910"/>
                  <a:pt x="484131" y="104368"/>
                  <a:pt x="455660" y="104833"/>
                </a:cubicBezTo>
                <a:cubicBezTo>
                  <a:pt x="455381" y="104843"/>
                  <a:pt x="455101" y="104850"/>
                  <a:pt x="454821" y="104854"/>
                </a:cubicBezTo>
                <a:cubicBezTo>
                  <a:pt x="425871" y="105353"/>
                  <a:pt x="401997" y="82286"/>
                  <a:pt x="401499" y="53334"/>
                </a:cubicBezTo>
                <a:cubicBezTo>
                  <a:pt x="401001" y="24381"/>
                  <a:pt x="424062" y="506"/>
                  <a:pt x="453021" y="8"/>
                </a:cubicBezTo>
                <a:close/>
              </a:path>
            </a:pathLst>
          </a:custGeom>
          <a:solidFill>
            <a:schemeClr val="accent1"/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700467" y="3366211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193800" y="3934481"/>
            <a:ext cx="3088228" cy="16408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225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个性化学习路径：通过集成先进的AI算法，多邻国为每一位用户提供个性化的学习路径，精准匹配其学习能力和进度。例如，根据用户过往答题情况、学习时长等数据，AI分析出用户的薄弱环节和优势领域，为其定制专属学习计划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544084" y="1524477"/>
            <a:ext cx="1502114" cy="150211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001646" y="2005513"/>
            <a:ext cx="568870" cy="501590"/>
          </a:xfrm>
          <a:custGeom>
            <a:avLst/>
            <a:gdLst>
              <a:gd name="connsiteX0" fmla="*/ 22711 w 568870"/>
              <a:gd name="connsiteY0" fmla="*/ 477996 h 501590"/>
              <a:gd name="connsiteX1" fmla="*/ 512069 w 568870"/>
              <a:gd name="connsiteY1" fmla="*/ 477996 h 501590"/>
              <a:gd name="connsiteX2" fmla="*/ 512069 w 568870"/>
              <a:gd name="connsiteY2" fmla="*/ 501590 h 501590"/>
              <a:gd name="connsiteX3" fmla="*/ 22711 w 568870"/>
              <a:gd name="connsiteY3" fmla="*/ 501590 h 501590"/>
              <a:gd name="connsiteX4" fmla="*/ 269138 w 568870"/>
              <a:gd name="connsiteY4" fmla="*/ 304100 h 501590"/>
              <a:gd name="connsiteX5" fmla="*/ 228172 w 568870"/>
              <a:gd name="connsiteY5" fmla="*/ 333912 h 501590"/>
              <a:gd name="connsiteX6" fmla="*/ 257979 w 568870"/>
              <a:gd name="connsiteY6" fmla="*/ 374882 h 501590"/>
              <a:gd name="connsiteX7" fmla="*/ 269138 w 568870"/>
              <a:gd name="connsiteY7" fmla="*/ 374882 h 501590"/>
              <a:gd name="connsiteX8" fmla="*/ 298954 w 568870"/>
              <a:gd name="connsiteY8" fmla="*/ 333912 h 501590"/>
              <a:gd name="connsiteX9" fmla="*/ 269138 w 568870"/>
              <a:gd name="connsiteY9" fmla="*/ 304100 h 501590"/>
              <a:gd name="connsiteX10" fmla="*/ 500709 w 568870"/>
              <a:gd name="connsiteY10" fmla="*/ 171275 h 501590"/>
              <a:gd name="connsiteX11" fmla="*/ 465755 w 568870"/>
              <a:gd name="connsiteY11" fmla="*/ 206229 h 501590"/>
              <a:gd name="connsiteX12" fmla="*/ 500709 w 568870"/>
              <a:gd name="connsiteY12" fmla="*/ 241184 h 501590"/>
              <a:gd name="connsiteX13" fmla="*/ 535664 w 568870"/>
              <a:gd name="connsiteY13" fmla="*/ 206229 h 501590"/>
              <a:gd name="connsiteX14" fmla="*/ 500709 w 568870"/>
              <a:gd name="connsiteY14" fmla="*/ 171275 h 501590"/>
              <a:gd name="connsiteX15" fmla="*/ 69026 w 568870"/>
              <a:gd name="connsiteY15" fmla="*/ 34080 h 501590"/>
              <a:gd name="connsiteX16" fmla="*/ 33198 w 568870"/>
              <a:gd name="connsiteY16" fmla="*/ 69908 h 501590"/>
              <a:gd name="connsiteX17" fmla="*/ 69026 w 568870"/>
              <a:gd name="connsiteY17" fmla="*/ 105736 h 501590"/>
              <a:gd name="connsiteX18" fmla="*/ 104854 w 568870"/>
              <a:gd name="connsiteY18" fmla="*/ 69908 h 501590"/>
              <a:gd name="connsiteX19" fmla="*/ 69026 w 568870"/>
              <a:gd name="connsiteY19" fmla="*/ 37576 h 501590"/>
              <a:gd name="connsiteX20" fmla="*/ 69035 w 568870"/>
              <a:gd name="connsiteY20" fmla="*/ 0 h 501590"/>
              <a:gd name="connsiteX21" fmla="*/ 138069 w 568870"/>
              <a:gd name="connsiteY21" fmla="*/ 69039 h 501590"/>
              <a:gd name="connsiteX22" fmla="*/ 138060 w 568870"/>
              <a:gd name="connsiteY22" fmla="*/ 69908 h 501590"/>
              <a:gd name="connsiteX23" fmla="*/ 132704 w 568870"/>
              <a:gd name="connsiteY23" fmla="*/ 96439 h 501590"/>
              <a:gd name="connsiteX24" fmla="*/ 120120 w 568870"/>
              <a:gd name="connsiteY24" fmla="*/ 115107 h 501590"/>
              <a:gd name="connsiteX25" fmla="*/ 240893 w 568870"/>
              <a:gd name="connsiteY25" fmla="*/ 276372 h 501590"/>
              <a:gd name="connsiteX26" fmla="*/ 242267 w 568870"/>
              <a:gd name="connsiteY26" fmla="*/ 275445 h 501590"/>
              <a:gd name="connsiteX27" fmla="*/ 269138 w 568870"/>
              <a:gd name="connsiteY27" fmla="*/ 270020 h 501590"/>
              <a:gd name="connsiteX28" fmla="*/ 317953 w 568870"/>
              <a:gd name="connsiteY28" fmla="*/ 290240 h 501590"/>
              <a:gd name="connsiteX29" fmla="*/ 328598 w 568870"/>
              <a:gd name="connsiteY29" fmla="*/ 306027 h 501590"/>
              <a:gd name="connsiteX30" fmla="*/ 440544 w 568870"/>
              <a:gd name="connsiteY30" fmla="*/ 239641 h 501590"/>
              <a:gd name="connsiteX31" fmla="*/ 436573 w 568870"/>
              <a:gd name="connsiteY31" fmla="*/ 233909 h 501590"/>
              <a:gd name="connsiteX32" fmla="*/ 430810 w 568870"/>
              <a:gd name="connsiteY32" fmla="*/ 207109 h 501590"/>
              <a:gd name="connsiteX33" fmla="*/ 498962 w 568870"/>
              <a:gd name="connsiteY33" fmla="*/ 137207 h 501590"/>
              <a:gd name="connsiteX34" fmla="*/ 568861 w 568870"/>
              <a:gd name="connsiteY34" fmla="*/ 205361 h 501590"/>
              <a:gd name="connsiteX35" fmla="*/ 568870 w 568870"/>
              <a:gd name="connsiteY35" fmla="*/ 206229 h 501590"/>
              <a:gd name="connsiteX36" fmla="*/ 500709 w 568870"/>
              <a:gd name="connsiteY36" fmla="*/ 275264 h 501590"/>
              <a:gd name="connsiteX37" fmla="*/ 473771 w 568870"/>
              <a:gd name="connsiteY37" fmla="*/ 270179 h 501590"/>
              <a:gd name="connsiteX38" fmla="*/ 456706 w 568870"/>
              <a:gd name="connsiteY38" fmla="*/ 258985 h 501590"/>
              <a:gd name="connsiteX39" fmla="*/ 460949 w 568870"/>
              <a:gd name="connsiteY39" fmla="*/ 266140 h 501590"/>
              <a:gd name="connsiteX40" fmla="*/ 339956 w 568870"/>
              <a:gd name="connsiteY40" fmla="*/ 337892 h 501590"/>
              <a:gd name="connsiteX41" fmla="*/ 336897 w 568870"/>
              <a:gd name="connsiteY41" fmla="*/ 332735 h 501590"/>
              <a:gd name="connsiteX42" fmla="*/ 338173 w 568870"/>
              <a:gd name="connsiteY42" fmla="*/ 339054 h 501590"/>
              <a:gd name="connsiteX43" fmla="*/ 269138 w 568870"/>
              <a:gd name="connsiteY43" fmla="*/ 408088 h 501590"/>
              <a:gd name="connsiteX44" fmla="*/ 200104 w 568870"/>
              <a:gd name="connsiteY44" fmla="*/ 339054 h 501590"/>
              <a:gd name="connsiteX45" fmla="*/ 205529 w 568870"/>
              <a:gd name="connsiteY45" fmla="*/ 312183 h 501590"/>
              <a:gd name="connsiteX46" fmla="*/ 215334 w 568870"/>
              <a:gd name="connsiteY46" fmla="*/ 297640 h 501590"/>
              <a:gd name="connsiteX47" fmla="*/ 92426 w 568870"/>
              <a:gd name="connsiteY47" fmla="*/ 133525 h 501590"/>
              <a:gd name="connsiteX48" fmla="*/ 69908 w 568870"/>
              <a:gd name="connsiteY48" fmla="*/ 138074 h 501590"/>
              <a:gd name="connsiteX49" fmla="*/ 69026 w 568870"/>
              <a:gd name="connsiteY49" fmla="*/ 138068 h 501590"/>
              <a:gd name="connsiteX50" fmla="*/ 0 w 568870"/>
              <a:gd name="connsiteY50" fmla="*/ 69029 h 501590"/>
              <a:gd name="connsiteX51" fmla="*/ 69035 w 568870"/>
              <a:gd name="connsiteY51" fmla="*/ 0 h 501590"/>
            </a:gdLst>
            <a:ahLst/>
            <a:cxnLst/>
            <a:rect l="l" t="t" r="r" b="b"/>
            <a:pathLst>
              <a:path w="568870" h="501590">
                <a:moveTo>
                  <a:pt x="22711" y="477996"/>
                </a:moveTo>
                <a:lnTo>
                  <a:pt x="512069" y="477996"/>
                </a:lnTo>
                <a:lnTo>
                  <a:pt x="512069" y="501590"/>
                </a:lnTo>
                <a:lnTo>
                  <a:pt x="22711" y="501590"/>
                </a:lnTo>
                <a:close/>
                <a:moveTo>
                  <a:pt x="269138" y="304100"/>
                </a:moveTo>
                <a:cubicBezTo>
                  <a:pt x="249590" y="301019"/>
                  <a:pt x="231248" y="314367"/>
                  <a:pt x="228172" y="333912"/>
                </a:cubicBezTo>
                <a:cubicBezTo>
                  <a:pt x="225087" y="353459"/>
                  <a:pt x="238440" y="371801"/>
                  <a:pt x="257979" y="374882"/>
                </a:cubicBezTo>
                <a:cubicBezTo>
                  <a:pt x="261675" y="375465"/>
                  <a:pt x="265442" y="375465"/>
                  <a:pt x="269138" y="374882"/>
                </a:cubicBezTo>
                <a:cubicBezTo>
                  <a:pt x="288686" y="371801"/>
                  <a:pt x="302030" y="353459"/>
                  <a:pt x="298954" y="333912"/>
                </a:cubicBezTo>
                <a:cubicBezTo>
                  <a:pt x="296534" y="318561"/>
                  <a:pt x="284492" y="306520"/>
                  <a:pt x="269138" y="304100"/>
                </a:cubicBezTo>
                <a:close/>
                <a:moveTo>
                  <a:pt x="500709" y="171275"/>
                </a:moveTo>
                <a:cubicBezTo>
                  <a:pt x="481406" y="171275"/>
                  <a:pt x="465755" y="186925"/>
                  <a:pt x="465755" y="206229"/>
                </a:cubicBezTo>
                <a:cubicBezTo>
                  <a:pt x="465755" y="225534"/>
                  <a:pt x="481406" y="241184"/>
                  <a:pt x="500709" y="241184"/>
                </a:cubicBezTo>
                <a:cubicBezTo>
                  <a:pt x="520013" y="241184"/>
                  <a:pt x="535664" y="225534"/>
                  <a:pt x="535664" y="206229"/>
                </a:cubicBezTo>
                <a:cubicBezTo>
                  <a:pt x="535664" y="186925"/>
                  <a:pt x="520013" y="171275"/>
                  <a:pt x="500709" y="171275"/>
                </a:cubicBezTo>
                <a:close/>
                <a:moveTo>
                  <a:pt x="69026" y="34080"/>
                </a:moveTo>
                <a:cubicBezTo>
                  <a:pt x="49242" y="34080"/>
                  <a:pt x="33198" y="50121"/>
                  <a:pt x="33198" y="69908"/>
                </a:cubicBezTo>
                <a:cubicBezTo>
                  <a:pt x="33198" y="89696"/>
                  <a:pt x="49242" y="105736"/>
                  <a:pt x="69026" y="105736"/>
                </a:cubicBezTo>
                <a:cubicBezTo>
                  <a:pt x="88810" y="105736"/>
                  <a:pt x="104854" y="89696"/>
                  <a:pt x="104854" y="69908"/>
                </a:cubicBezTo>
                <a:cubicBezTo>
                  <a:pt x="103464" y="51292"/>
                  <a:pt x="87682" y="37056"/>
                  <a:pt x="69026" y="37576"/>
                </a:cubicBezTo>
                <a:close/>
                <a:moveTo>
                  <a:pt x="69035" y="0"/>
                </a:moveTo>
                <a:cubicBezTo>
                  <a:pt x="107161" y="3"/>
                  <a:pt x="138069" y="30913"/>
                  <a:pt x="138069" y="69039"/>
                </a:cubicBezTo>
                <a:cubicBezTo>
                  <a:pt x="138069" y="69330"/>
                  <a:pt x="138060" y="69619"/>
                  <a:pt x="138060" y="69908"/>
                </a:cubicBezTo>
                <a:cubicBezTo>
                  <a:pt x="138060" y="79319"/>
                  <a:pt x="136153" y="88285"/>
                  <a:pt x="132704" y="96439"/>
                </a:cubicBezTo>
                <a:lnTo>
                  <a:pt x="120120" y="115107"/>
                </a:lnTo>
                <a:lnTo>
                  <a:pt x="240893" y="276372"/>
                </a:lnTo>
                <a:lnTo>
                  <a:pt x="242267" y="275445"/>
                </a:lnTo>
                <a:cubicBezTo>
                  <a:pt x="250526" y="271952"/>
                  <a:pt x="259607" y="270020"/>
                  <a:pt x="269138" y="270020"/>
                </a:cubicBezTo>
                <a:cubicBezTo>
                  <a:pt x="288202" y="270020"/>
                  <a:pt x="305461" y="277747"/>
                  <a:pt x="317953" y="290240"/>
                </a:cubicBezTo>
                <a:lnTo>
                  <a:pt x="328598" y="306027"/>
                </a:lnTo>
                <a:lnTo>
                  <a:pt x="440544" y="239641"/>
                </a:lnTo>
                <a:lnTo>
                  <a:pt x="436573" y="233909"/>
                </a:lnTo>
                <a:cubicBezTo>
                  <a:pt x="432976" y="225695"/>
                  <a:pt x="430930" y="216640"/>
                  <a:pt x="430810" y="207109"/>
                </a:cubicBezTo>
                <a:cubicBezTo>
                  <a:pt x="430320" y="168985"/>
                  <a:pt x="460836" y="137689"/>
                  <a:pt x="498962" y="137207"/>
                </a:cubicBezTo>
                <a:cubicBezTo>
                  <a:pt x="537088" y="136723"/>
                  <a:pt x="568380" y="167237"/>
                  <a:pt x="568861" y="205361"/>
                </a:cubicBezTo>
                <a:cubicBezTo>
                  <a:pt x="568870" y="205651"/>
                  <a:pt x="568870" y="205940"/>
                  <a:pt x="568870" y="206229"/>
                </a:cubicBezTo>
                <a:cubicBezTo>
                  <a:pt x="568870" y="244017"/>
                  <a:pt x="538495" y="274786"/>
                  <a:pt x="500709" y="275264"/>
                </a:cubicBezTo>
                <a:cubicBezTo>
                  <a:pt x="491178" y="275384"/>
                  <a:pt x="482073" y="273568"/>
                  <a:pt x="473771" y="270179"/>
                </a:cubicBezTo>
                <a:lnTo>
                  <a:pt x="456706" y="258985"/>
                </a:lnTo>
                <a:lnTo>
                  <a:pt x="460949" y="266140"/>
                </a:lnTo>
                <a:lnTo>
                  <a:pt x="339956" y="337892"/>
                </a:lnTo>
                <a:lnTo>
                  <a:pt x="336897" y="332735"/>
                </a:lnTo>
                <a:lnTo>
                  <a:pt x="338173" y="339054"/>
                </a:lnTo>
                <a:cubicBezTo>
                  <a:pt x="338173" y="377181"/>
                  <a:pt x="307265" y="408088"/>
                  <a:pt x="269138" y="408088"/>
                </a:cubicBezTo>
                <a:cubicBezTo>
                  <a:pt x="231012" y="408088"/>
                  <a:pt x="200104" y="377181"/>
                  <a:pt x="200104" y="339054"/>
                </a:cubicBezTo>
                <a:cubicBezTo>
                  <a:pt x="200104" y="329522"/>
                  <a:pt x="202036" y="320442"/>
                  <a:pt x="205529" y="312183"/>
                </a:cubicBezTo>
                <a:lnTo>
                  <a:pt x="215334" y="297640"/>
                </a:lnTo>
                <a:lnTo>
                  <a:pt x="92426" y="133525"/>
                </a:lnTo>
                <a:lnTo>
                  <a:pt x="69908" y="138074"/>
                </a:lnTo>
                <a:cubicBezTo>
                  <a:pt x="69611" y="138074"/>
                  <a:pt x="69323" y="138072"/>
                  <a:pt x="69026" y="138068"/>
                </a:cubicBezTo>
                <a:cubicBezTo>
                  <a:pt x="30899" y="138066"/>
                  <a:pt x="-9" y="107155"/>
                  <a:pt x="0" y="69029"/>
                </a:cubicBezTo>
                <a:cubicBezTo>
                  <a:pt x="0" y="30902"/>
                  <a:pt x="30908" y="-3"/>
                  <a:pt x="69035" y="0"/>
                </a:cubicBezTo>
                <a:close/>
              </a:path>
            </a:pathLst>
          </a:custGeom>
          <a:solidFill>
            <a:schemeClr val="accent1"/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218837" y="3343379"/>
            <a:ext cx="1963548" cy="403718"/>
          </a:xfrm>
          <a:custGeom>
            <a:avLst/>
            <a:gdLst>
              <a:gd name="connsiteX0" fmla="*/ 0 w 1963548"/>
              <a:gd name="connsiteY0" fmla="*/ 0 h 403718"/>
              <a:gd name="connsiteX1" fmla="*/ 1963549 w 1963548"/>
              <a:gd name="connsiteY1" fmla="*/ 0 h 403718"/>
              <a:gd name="connsiteX2" fmla="*/ 1963549 w 1963548"/>
              <a:gd name="connsiteY2" fmla="*/ 403719 h 403718"/>
              <a:gd name="connsiteX3" fmla="*/ 0 w 1963548"/>
              <a:gd name="connsiteY3" fmla="*/ 403719 h 403718"/>
            </a:gdLst>
            <a:ahLst/>
            <a:cxnLst/>
            <a:rect l="l" t="t" r="r" b="b"/>
            <a:pathLst>
              <a:path w="1963548" h="403718">
                <a:moveTo>
                  <a:pt x="0" y="0"/>
                </a:moveTo>
                <a:lnTo>
                  <a:pt x="1963549" y="0"/>
                </a:lnTo>
                <a:lnTo>
                  <a:pt x="1963549" y="403719"/>
                </a:lnTo>
                <a:lnTo>
                  <a:pt x="0" y="403719"/>
                </a:lnTo>
                <a:close/>
              </a:path>
            </a:pathLst>
          </a:custGeom>
          <a:solidFill>
            <a:schemeClr val="accent1"/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218837" y="3343379"/>
            <a:ext cx="814431" cy="403718"/>
          </a:xfrm>
          <a:custGeom>
            <a:avLst/>
            <a:gdLst>
              <a:gd name="connsiteX0" fmla="*/ 0 w 814431"/>
              <a:gd name="connsiteY0" fmla="*/ 0 h 403718"/>
              <a:gd name="connsiteX1" fmla="*/ 814431 w 814431"/>
              <a:gd name="connsiteY1" fmla="*/ 0 h 403718"/>
              <a:gd name="connsiteX2" fmla="*/ 814431 w 814431"/>
              <a:gd name="connsiteY2" fmla="*/ 403719 h 403718"/>
              <a:gd name="connsiteX3" fmla="*/ 0 w 814431"/>
              <a:gd name="connsiteY3" fmla="*/ 403719 h 403718"/>
            </a:gdLst>
            <a:ahLst/>
            <a:cxnLst/>
            <a:rect l="l" t="t" r="r" b="b"/>
            <a:pathLst>
              <a:path w="814431" h="403718">
                <a:moveTo>
                  <a:pt x="0" y="0"/>
                </a:moveTo>
                <a:lnTo>
                  <a:pt x="814431" y="0"/>
                </a:lnTo>
                <a:lnTo>
                  <a:pt x="814431" y="403719"/>
                </a:lnTo>
                <a:lnTo>
                  <a:pt x="0" y="40371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10800000">
            <a:off x="6025403" y="3247256"/>
            <a:ext cx="11360" cy="594218"/>
          </a:xfrm>
          <a:custGeom>
            <a:avLst/>
            <a:gdLst>
              <a:gd name="connsiteX0" fmla="*/ 0 w 11360"/>
              <a:gd name="connsiteY0" fmla="*/ 0 h 594218"/>
              <a:gd name="connsiteX1" fmla="*/ 11360 w 11360"/>
              <a:gd name="connsiteY1" fmla="*/ 0 h 594218"/>
              <a:gd name="connsiteX2" fmla="*/ 11360 w 11360"/>
              <a:gd name="connsiteY2" fmla="*/ 594218 h 594218"/>
              <a:gd name="connsiteX3" fmla="*/ 0 w 11360"/>
              <a:gd name="connsiteY3" fmla="*/ 594218 h 594218"/>
            </a:gdLst>
            <a:ahLst/>
            <a:cxnLst/>
            <a:rect l="l" t="t" r="r" b="b"/>
            <a:pathLst>
              <a:path w="11360" h="594218">
                <a:moveTo>
                  <a:pt x="0" y="0"/>
                </a:moveTo>
                <a:lnTo>
                  <a:pt x="11360" y="0"/>
                </a:lnTo>
                <a:lnTo>
                  <a:pt x="11360" y="594218"/>
                </a:lnTo>
                <a:lnTo>
                  <a:pt x="0" y="59421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217505" y="3366211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622800" y="3934480"/>
            <a:ext cx="3089386" cy="16408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智能互动反馈：内置语音识别系统能即时对用户的发音进行评估与纠正，智能纠错功能精准捕捉并指出用户在语法、拼写等方面的错误。如用户在进行口语练习时，系统能实时反馈发音问题，并提供改进建议。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8803946" y="1524477"/>
            <a:ext cx="1502114" cy="150211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9236047" y="1958329"/>
            <a:ext cx="637913" cy="598584"/>
          </a:xfrm>
          <a:custGeom>
            <a:avLst/>
            <a:gdLst>
              <a:gd name="connsiteX0" fmla="*/ 299099 w 637913"/>
              <a:gd name="connsiteY0" fmla="*/ 354682 h 598584"/>
              <a:gd name="connsiteX1" fmla="*/ 637913 w 637913"/>
              <a:gd name="connsiteY1" fmla="*/ 598584 h 598584"/>
              <a:gd name="connsiteX2" fmla="*/ 602959 w 637913"/>
              <a:gd name="connsiteY2" fmla="*/ 598584 h 598584"/>
              <a:gd name="connsiteX3" fmla="*/ 318957 w 637913"/>
              <a:gd name="connsiteY3" fmla="*/ 387112 h 598584"/>
              <a:gd name="connsiteX4" fmla="*/ 34080 w 637913"/>
              <a:gd name="connsiteY4" fmla="*/ 598584 h 598584"/>
              <a:gd name="connsiteX5" fmla="*/ 0 w 637913"/>
              <a:gd name="connsiteY5" fmla="*/ 598584 h 598584"/>
              <a:gd name="connsiteX6" fmla="*/ 233075 w 637913"/>
              <a:gd name="connsiteY6" fmla="*/ 365510 h 598584"/>
              <a:gd name="connsiteX7" fmla="*/ 299099 w 637913"/>
              <a:gd name="connsiteY7" fmla="*/ 354682 h 598584"/>
              <a:gd name="connsiteX8" fmla="*/ 318956 w 637913"/>
              <a:gd name="connsiteY8" fmla="*/ 34076 h 598584"/>
              <a:gd name="connsiteX9" fmla="*/ 200986 w 637913"/>
              <a:gd name="connsiteY9" fmla="*/ 150295 h 598584"/>
              <a:gd name="connsiteX10" fmla="*/ 317209 w 637913"/>
              <a:gd name="connsiteY10" fmla="*/ 268262 h 598584"/>
              <a:gd name="connsiteX11" fmla="*/ 435179 w 637913"/>
              <a:gd name="connsiteY11" fmla="*/ 152043 h 598584"/>
              <a:gd name="connsiteX12" fmla="*/ 435179 w 637913"/>
              <a:gd name="connsiteY12" fmla="*/ 151172 h 598584"/>
              <a:gd name="connsiteX13" fmla="*/ 318956 w 637913"/>
              <a:gd name="connsiteY13" fmla="*/ 34076 h 598584"/>
              <a:gd name="connsiteX14" fmla="*/ 317218 w 637913"/>
              <a:gd name="connsiteY14" fmla="*/ 2 h 598584"/>
              <a:gd name="connsiteX15" fmla="*/ 468385 w 637913"/>
              <a:gd name="connsiteY15" fmla="*/ 149430 h 598584"/>
              <a:gd name="connsiteX16" fmla="*/ 468385 w 637913"/>
              <a:gd name="connsiteY16" fmla="*/ 151172 h 598584"/>
              <a:gd name="connsiteX17" fmla="*/ 318956 w 637913"/>
              <a:gd name="connsiteY17" fmla="*/ 300601 h 598584"/>
              <a:gd name="connsiteX18" fmla="*/ 167789 w 637913"/>
              <a:gd name="connsiteY18" fmla="*/ 151172 h 598584"/>
              <a:gd name="connsiteX19" fmla="*/ 317218 w 637913"/>
              <a:gd name="connsiteY19" fmla="*/ 2 h 598584"/>
            </a:gdLst>
            <a:ahLst/>
            <a:cxnLst/>
            <a:rect l="l" t="t" r="r" b="b"/>
            <a:pathLst>
              <a:path w="637913" h="598584">
                <a:moveTo>
                  <a:pt x="299099" y="354682"/>
                </a:moveTo>
                <a:cubicBezTo>
                  <a:pt x="452448" y="345288"/>
                  <a:pt x="596409" y="444448"/>
                  <a:pt x="637913" y="598584"/>
                </a:cubicBezTo>
                <a:lnTo>
                  <a:pt x="602959" y="598584"/>
                </a:lnTo>
                <a:cubicBezTo>
                  <a:pt x="565226" y="473221"/>
                  <a:pt x="449877" y="387331"/>
                  <a:pt x="318957" y="387112"/>
                </a:cubicBezTo>
                <a:cubicBezTo>
                  <a:pt x="187713" y="386946"/>
                  <a:pt x="71909" y="472907"/>
                  <a:pt x="34080" y="598584"/>
                </a:cubicBezTo>
                <a:lnTo>
                  <a:pt x="0" y="598584"/>
                </a:lnTo>
                <a:cubicBezTo>
                  <a:pt x="30611" y="484913"/>
                  <a:pt x="119403" y="396118"/>
                  <a:pt x="233075" y="365510"/>
                </a:cubicBezTo>
                <a:cubicBezTo>
                  <a:pt x="255094" y="359581"/>
                  <a:pt x="277193" y="356024"/>
                  <a:pt x="299099" y="354682"/>
                </a:cubicBezTo>
                <a:close/>
                <a:moveTo>
                  <a:pt x="318956" y="34076"/>
                </a:moveTo>
                <a:cubicBezTo>
                  <a:pt x="254291" y="33594"/>
                  <a:pt x="201476" y="85627"/>
                  <a:pt x="200986" y="150295"/>
                </a:cubicBezTo>
                <a:cubicBezTo>
                  <a:pt x="200506" y="214964"/>
                  <a:pt x="252543" y="267779"/>
                  <a:pt x="317209" y="268262"/>
                </a:cubicBezTo>
                <a:cubicBezTo>
                  <a:pt x="381874" y="268745"/>
                  <a:pt x="434690" y="216711"/>
                  <a:pt x="435179" y="152043"/>
                </a:cubicBezTo>
                <a:cubicBezTo>
                  <a:pt x="435179" y="151753"/>
                  <a:pt x="435179" y="151463"/>
                  <a:pt x="435179" y="151172"/>
                </a:cubicBezTo>
                <a:cubicBezTo>
                  <a:pt x="435179" y="86842"/>
                  <a:pt x="383289" y="34556"/>
                  <a:pt x="318956" y="34076"/>
                </a:cubicBezTo>
                <a:close/>
                <a:moveTo>
                  <a:pt x="317218" y="2"/>
                </a:moveTo>
                <a:cubicBezTo>
                  <a:pt x="400225" y="-480"/>
                  <a:pt x="467904" y="66421"/>
                  <a:pt x="468385" y="149430"/>
                </a:cubicBezTo>
                <a:cubicBezTo>
                  <a:pt x="468385" y="150010"/>
                  <a:pt x="468385" y="150591"/>
                  <a:pt x="468385" y="151172"/>
                </a:cubicBezTo>
                <a:cubicBezTo>
                  <a:pt x="467904" y="233501"/>
                  <a:pt x="401282" y="300124"/>
                  <a:pt x="318956" y="300601"/>
                </a:cubicBezTo>
                <a:cubicBezTo>
                  <a:pt x="235949" y="301082"/>
                  <a:pt x="168269" y="234180"/>
                  <a:pt x="167789" y="151172"/>
                </a:cubicBezTo>
                <a:cubicBezTo>
                  <a:pt x="167299" y="68165"/>
                  <a:pt x="234201" y="482"/>
                  <a:pt x="317218" y="2"/>
                </a:cubicBezTo>
                <a:close/>
              </a:path>
            </a:pathLst>
          </a:custGeom>
          <a:solidFill>
            <a:schemeClr val="accent1"/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8602524" y="3343379"/>
            <a:ext cx="1963548" cy="403718"/>
          </a:xfrm>
          <a:custGeom>
            <a:avLst/>
            <a:gdLst>
              <a:gd name="connsiteX0" fmla="*/ 0 w 1963548"/>
              <a:gd name="connsiteY0" fmla="*/ 0 h 403718"/>
              <a:gd name="connsiteX1" fmla="*/ 1963549 w 1963548"/>
              <a:gd name="connsiteY1" fmla="*/ 0 h 403718"/>
              <a:gd name="connsiteX2" fmla="*/ 1963549 w 1963548"/>
              <a:gd name="connsiteY2" fmla="*/ 403719 h 403718"/>
              <a:gd name="connsiteX3" fmla="*/ 0 w 1963548"/>
              <a:gd name="connsiteY3" fmla="*/ 403719 h 403718"/>
            </a:gdLst>
            <a:ahLst/>
            <a:cxnLst/>
            <a:rect l="l" t="t" r="r" b="b"/>
            <a:pathLst>
              <a:path w="1963548" h="403718">
                <a:moveTo>
                  <a:pt x="0" y="0"/>
                </a:moveTo>
                <a:lnTo>
                  <a:pt x="1963549" y="0"/>
                </a:lnTo>
                <a:lnTo>
                  <a:pt x="1963549" y="403719"/>
                </a:lnTo>
                <a:lnTo>
                  <a:pt x="0" y="403719"/>
                </a:lnTo>
                <a:close/>
              </a:path>
            </a:pathLst>
          </a:custGeom>
          <a:solidFill>
            <a:schemeClr val="accent1"/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602524" y="3343379"/>
            <a:ext cx="814431" cy="403718"/>
          </a:xfrm>
          <a:custGeom>
            <a:avLst/>
            <a:gdLst>
              <a:gd name="connsiteX0" fmla="*/ 0 w 814431"/>
              <a:gd name="connsiteY0" fmla="*/ 0 h 403718"/>
              <a:gd name="connsiteX1" fmla="*/ 814431 w 814431"/>
              <a:gd name="connsiteY1" fmla="*/ 0 h 403718"/>
              <a:gd name="connsiteX2" fmla="*/ 814431 w 814431"/>
              <a:gd name="connsiteY2" fmla="*/ 403719 h 403718"/>
              <a:gd name="connsiteX3" fmla="*/ 0 w 814431"/>
              <a:gd name="connsiteY3" fmla="*/ 403719 h 403718"/>
            </a:gdLst>
            <a:ahLst/>
            <a:cxnLst/>
            <a:rect l="l" t="t" r="r" b="b"/>
            <a:pathLst>
              <a:path w="814431" h="403718">
                <a:moveTo>
                  <a:pt x="0" y="0"/>
                </a:moveTo>
                <a:lnTo>
                  <a:pt x="814431" y="0"/>
                </a:lnTo>
                <a:lnTo>
                  <a:pt x="814431" y="403719"/>
                </a:lnTo>
                <a:lnTo>
                  <a:pt x="0" y="40371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10800000">
            <a:off x="9409090" y="3247256"/>
            <a:ext cx="11360" cy="594218"/>
          </a:xfrm>
          <a:custGeom>
            <a:avLst/>
            <a:gdLst>
              <a:gd name="connsiteX0" fmla="*/ 0 w 11360"/>
              <a:gd name="connsiteY0" fmla="*/ 0 h 594218"/>
              <a:gd name="connsiteX1" fmla="*/ 11360 w 11360"/>
              <a:gd name="connsiteY1" fmla="*/ 0 h 594218"/>
              <a:gd name="connsiteX2" fmla="*/ 11360 w 11360"/>
              <a:gd name="connsiteY2" fmla="*/ 594218 h 594218"/>
              <a:gd name="connsiteX3" fmla="*/ 0 w 11360"/>
              <a:gd name="connsiteY3" fmla="*/ 594218 h 594218"/>
            </a:gdLst>
            <a:ahLst/>
            <a:cxnLst/>
            <a:rect l="l" t="t" r="r" b="b"/>
            <a:pathLst>
              <a:path w="11360" h="594218">
                <a:moveTo>
                  <a:pt x="0" y="0"/>
                </a:moveTo>
                <a:lnTo>
                  <a:pt x="11360" y="0"/>
                </a:lnTo>
                <a:lnTo>
                  <a:pt x="11360" y="594218"/>
                </a:lnTo>
                <a:lnTo>
                  <a:pt x="0" y="59421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8738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9601192" y="3366211"/>
            <a:ext cx="736600" cy="30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03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8052021" y="3934480"/>
            <a:ext cx="3070225" cy="16408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动态内容调整：AI驱动的数据分析系统持续追踪用户的学习行为和成效，动态调整教学内容与难度。若用户在某一知识点上反复出错，系统会增加相关练习和讲解，确保学习过程既富挑战性又充满成就感。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AI技术在多邻国的深度应用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18002" y="6541477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18002" y="6697165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2700000">
            <a:off x="7956788" y="1338601"/>
            <a:ext cx="4587198" cy="4587198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41400" y="2818491"/>
            <a:ext cx="5085080" cy="1487432"/>
          </a:xfrm>
          <a:prstGeom prst="roundRect">
            <a:avLst>
              <a:gd name="adj" fmla="val 8952"/>
            </a:avLst>
          </a:prstGeom>
          <a:solidFill>
            <a:schemeClr val="bg1"/>
          </a:solidFill>
          <a:ln w="28575" cap="sq">
            <a:noFill/>
            <a:miter/>
          </a:ln>
          <a:effectLst>
            <a:outerShdw blurRad="279400" dist="38100" dir="2700000" sx="99000" sy="99000" algn="tl" rotWithShape="0">
              <a:schemeClr val="accent1">
                <a:alpha val="2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1340" y="2716891"/>
            <a:ext cx="835802" cy="817152"/>
          </a:xfrm>
          <a:prstGeom prst="roundRect">
            <a:avLst>
              <a:gd name="adj" fmla="val 8952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568957" y="2983592"/>
            <a:ext cx="4315102" cy="11046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提高学习效率：个性化学习路径和动态内容调整，让用户专注于自己需要提升的部分，避免无效学习。以词汇学习为例，AI根据用户记忆曲线安排复习，帮助用户更快更牢地掌握词汇。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5526" y="2889328"/>
            <a:ext cx="627431" cy="5136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02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5804509" y="4151176"/>
            <a:ext cx="236103" cy="237650"/>
          </a:xfrm>
          <a:prstGeom prst="round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6075474" y="3897427"/>
            <a:ext cx="172362" cy="17349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41400" y="1130300"/>
            <a:ext cx="6189980" cy="1487432"/>
          </a:xfrm>
          <a:prstGeom prst="roundRect">
            <a:avLst>
              <a:gd name="adj" fmla="val 8952"/>
            </a:avLst>
          </a:prstGeom>
          <a:solidFill>
            <a:schemeClr val="bg1"/>
          </a:solidFill>
          <a:ln w="28575" cap="sq">
            <a:noFill/>
            <a:miter/>
          </a:ln>
          <a:effectLst>
            <a:outerShdw blurRad="279400" dist="38100" dir="2700000" sx="99000" sy="99000" algn="tl" rotWithShape="0">
              <a:schemeClr val="accent1">
                <a:alpha val="2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61340" y="1028700"/>
            <a:ext cx="835802" cy="817152"/>
          </a:xfrm>
          <a:prstGeom prst="roundRect">
            <a:avLst>
              <a:gd name="adj" fmla="val 8952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524000" y="1295401"/>
            <a:ext cx="5547360" cy="11046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增强学习趣味性：多邻国一直致力于让学习变得有趣，AI技术的应用进一步实现了这一目标。比如“多邻国大冒险”功能，延续游戏化设计风格，用户可沉浸在多邻国世界中，体验不同动态剧情设定，通过结合上下文与角色对话完成任务，使学习不再枯燥。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65526" y="1201137"/>
            <a:ext cx="627431" cy="5136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01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rot="5400000">
            <a:off x="6878929" y="2462985"/>
            <a:ext cx="236103" cy="237650"/>
          </a:xfrm>
          <a:prstGeom prst="round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rot="5400000">
            <a:off x="7149894" y="2209236"/>
            <a:ext cx="172362" cy="17349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995680" y="4506683"/>
            <a:ext cx="6189980" cy="1487432"/>
          </a:xfrm>
          <a:prstGeom prst="roundRect">
            <a:avLst>
              <a:gd name="adj" fmla="val 8952"/>
            </a:avLst>
          </a:prstGeom>
          <a:solidFill>
            <a:schemeClr val="bg1"/>
          </a:solidFill>
          <a:ln w="28575" cap="sq">
            <a:noFill/>
            <a:miter/>
          </a:ln>
          <a:effectLst>
            <a:outerShdw blurRad="279400" dist="38100" dir="2700000" sx="99000" sy="99000" algn="tl" rotWithShape="0">
              <a:schemeClr val="accent1">
                <a:alpha val="2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561340" y="4405082"/>
            <a:ext cx="835802" cy="817152"/>
          </a:xfrm>
          <a:prstGeom prst="roundRect">
            <a:avLst>
              <a:gd name="adj" fmla="val 8952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524000" y="4671783"/>
            <a:ext cx="5547360" cy="11046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实现随时随地学习：AI技术与移动应用的结合，使用户可以在任何时间、任何地点进行学习，打破了时间和空间的限制，充分利用碎片化时间提升语言能力。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65526" y="4577519"/>
            <a:ext cx="627431" cy="51366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03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rot="5400000">
            <a:off x="6878929" y="5866743"/>
            <a:ext cx="236103" cy="237650"/>
          </a:xfrm>
          <a:prstGeom prst="round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rot="5400000">
            <a:off x="7149894" y="5612994"/>
            <a:ext cx="172362" cy="17349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">
            <a:alphaModFix amt="100000"/>
          </a:blip>
          <a:srcRect l="21875" r="21875"/>
          <a:stretch>
            <a:fillRect/>
          </a:stretch>
        </p:blipFill>
        <p:spPr>
          <a:xfrm>
            <a:off x="7490785" y="872598"/>
            <a:ext cx="5519204" cy="5519204"/>
          </a:xfrm>
          <a:custGeom>
            <a:avLst/>
            <a:gdLst/>
            <a:ahLst/>
            <a:cxnLst/>
            <a:rect l="l" t="t" r="r" b="b"/>
            <a:pathLst>
              <a:path w="5519204" h="5519204">
                <a:moveTo>
                  <a:pt x="2759602" y="0"/>
                </a:moveTo>
                <a:cubicBezTo>
                  <a:pt x="2944080" y="0"/>
                  <a:pt x="3128558" y="70376"/>
                  <a:pt x="3269309" y="211128"/>
                </a:cubicBezTo>
                <a:lnTo>
                  <a:pt x="5308076" y="2249895"/>
                </a:lnTo>
                <a:cubicBezTo>
                  <a:pt x="5589580" y="2531398"/>
                  <a:pt x="5589580" y="2987806"/>
                  <a:pt x="5308076" y="3269310"/>
                </a:cubicBezTo>
                <a:lnTo>
                  <a:pt x="3269309" y="5308077"/>
                </a:lnTo>
                <a:cubicBezTo>
                  <a:pt x="2987806" y="5589580"/>
                  <a:pt x="2531398" y="5589580"/>
                  <a:pt x="2249895" y="5308077"/>
                </a:cubicBezTo>
                <a:lnTo>
                  <a:pt x="211128" y="3269310"/>
                </a:lnTo>
                <a:cubicBezTo>
                  <a:pt x="-70376" y="2987806"/>
                  <a:pt x="-70376" y="2531398"/>
                  <a:pt x="211128" y="2249895"/>
                </a:cubicBezTo>
                <a:lnTo>
                  <a:pt x="2249895" y="211128"/>
                </a:lnTo>
                <a:cubicBezTo>
                  <a:pt x="2390647" y="70376"/>
                  <a:pt x="2575124" y="0"/>
                  <a:pt x="2759602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5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AI如何提升多邻国的学习体验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254834" y="0"/>
            <a:ext cx="3227882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flipH="1"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flipH="1">
            <a:off x="7559296" y="5171142"/>
            <a:ext cx="4632705" cy="1686859"/>
          </a:xfrm>
          <a:custGeom>
            <a:avLst/>
            <a:gdLst>
              <a:gd name="connsiteX0" fmla="*/ 0 w 4632705"/>
              <a:gd name="connsiteY0" fmla="*/ 0 h 1686859"/>
              <a:gd name="connsiteX1" fmla="*/ 4632705 w 4632705"/>
              <a:gd name="connsiteY1" fmla="*/ 0 h 1686859"/>
              <a:gd name="connsiteX2" fmla="*/ 4632705 w 4632705"/>
              <a:gd name="connsiteY2" fmla="*/ 1686859 h 1686859"/>
              <a:gd name="connsiteX3" fmla="*/ 0 w 4632705"/>
              <a:gd name="connsiteY3" fmla="*/ 1686859 h 1686859"/>
            </a:gdLst>
            <a:ahLst/>
            <a:cxnLst/>
            <a:rect l="l" t="t" r="r" b="b"/>
            <a:pathLst>
              <a:path w="4632705" h="1686859">
                <a:moveTo>
                  <a:pt x="0" y="0"/>
                </a:moveTo>
                <a:lnTo>
                  <a:pt x="4632705" y="0"/>
                </a:lnTo>
                <a:lnTo>
                  <a:pt x="4632705" y="1686859"/>
                </a:lnTo>
                <a:lnTo>
                  <a:pt x="0" y="168685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>
            <a:off x="5326267" y="-10900"/>
            <a:ext cx="6883735" cy="4595094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flipH="1">
            <a:off x="1" y="0"/>
            <a:ext cx="3227882" cy="6858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2"/>
              </a:gs>
            </a:gsLst>
            <a:lin ang="90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H="1">
            <a:off x="9691" y="3360956"/>
            <a:ext cx="6883735" cy="3497045"/>
          </a:xfrm>
          <a:custGeom>
            <a:avLst/>
            <a:gdLst>
              <a:gd name="connsiteX0" fmla="*/ 0 w 6883735"/>
              <a:gd name="connsiteY0" fmla="*/ 0 h 3497045"/>
              <a:gd name="connsiteX1" fmla="*/ 6883735 w 6883735"/>
              <a:gd name="connsiteY1" fmla="*/ 0 h 3497045"/>
              <a:gd name="connsiteX2" fmla="*/ 6883735 w 6883735"/>
              <a:gd name="connsiteY2" fmla="*/ 3497045 h 3497045"/>
              <a:gd name="connsiteX3" fmla="*/ 0 w 6883735"/>
              <a:gd name="connsiteY3" fmla="*/ 3497045 h 3497045"/>
            </a:gdLst>
            <a:ahLst/>
            <a:cxnLst/>
            <a:rect l="l" t="t" r="r" b="b"/>
            <a:pathLst>
              <a:path w="6883735" h="3497045">
                <a:moveTo>
                  <a:pt x="0" y="0"/>
                </a:moveTo>
                <a:lnTo>
                  <a:pt x="6883735" y="0"/>
                </a:lnTo>
                <a:lnTo>
                  <a:pt x="6883735" y="3497045"/>
                </a:lnTo>
                <a:lnTo>
                  <a:pt x="0" y="349704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flipH="1">
            <a:off x="0" y="0"/>
            <a:ext cx="5262240" cy="1457211"/>
          </a:xfrm>
          <a:custGeom>
            <a:avLst/>
            <a:gdLst>
              <a:gd name="connsiteX0" fmla="*/ 0 w 4629883"/>
              <a:gd name="connsiteY0" fmla="*/ 0 h 1282100"/>
              <a:gd name="connsiteX1" fmla="*/ 4629883 w 4629883"/>
              <a:gd name="connsiteY1" fmla="*/ 0 h 1282100"/>
              <a:gd name="connsiteX2" fmla="*/ 4629883 w 4629883"/>
              <a:gd name="connsiteY2" fmla="*/ 1282100 h 1282100"/>
              <a:gd name="connsiteX3" fmla="*/ 0 w 4629883"/>
              <a:gd name="connsiteY3" fmla="*/ 1282100 h 1282100"/>
            </a:gdLst>
            <a:ahLst/>
            <a:cxnLst/>
            <a:rect l="l" t="t" r="r" b="b"/>
            <a:pathLst>
              <a:path w="4629883" h="1282100">
                <a:moveTo>
                  <a:pt x="0" y="0"/>
                </a:moveTo>
                <a:lnTo>
                  <a:pt x="4629883" y="0"/>
                </a:lnTo>
                <a:lnTo>
                  <a:pt x="4629883" y="1282100"/>
                </a:lnTo>
                <a:lnTo>
                  <a:pt x="0" y="12821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flipH="1">
            <a:off x="819932" y="1731645"/>
            <a:ext cx="4822206" cy="389018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flipH="1">
            <a:off x="427486" y="758002"/>
            <a:ext cx="2155767" cy="20020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flipH="1">
            <a:off x="427486" y="758002"/>
            <a:ext cx="2155767" cy="389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427486" y="1539465"/>
            <a:ext cx="2155767" cy="12205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4280841" y="5179204"/>
            <a:ext cx="1290650" cy="846842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alphaModFix amt="100000"/>
          </a:blip>
          <a:srcRect l="17504" r="17504"/>
          <a:stretch>
            <a:fillRect/>
          </a:stretch>
        </p:blipFill>
        <p:spPr>
          <a:xfrm flipH="1">
            <a:off x="947382" y="1954517"/>
            <a:ext cx="4134452" cy="356524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 rot="16200000" flipH="1">
            <a:off x="711625" y="5129949"/>
            <a:ext cx="540562" cy="937497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flipH="1">
            <a:off x="7638757" y="3015876"/>
            <a:ext cx="3892844" cy="21246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54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368635" y="3343318"/>
            <a:ext cx="5203158" cy="161755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NFT为多邻国带来的变革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033781" y="5108446"/>
            <a:ext cx="1507868" cy="1615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dist">
              <a:lnSpc>
                <a:spcPct val="10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808080">
                    <a:alpha val="25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PowerPoint design</a:t>
            </a:r>
            <a:endParaRPr kumimoji="1" lang="zh-CN" altLang="en-US"/>
          </a:p>
        </p:txBody>
      </p:sp>
      <p:cxnSp>
        <p:nvCxnSpPr>
          <p:cNvPr id="19" name="标题 1"/>
          <p:cNvCxnSpPr/>
          <p:nvPr/>
        </p:nvCxnSpPr>
        <p:spPr>
          <a:xfrm flipH="1">
            <a:off x="6945420" y="5197220"/>
            <a:ext cx="2965967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prstDash val="solid"/>
            <a:miter/>
          </a:ln>
        </p:spPr>
      </p:cxnSp>
      <p:sp>
        <p:nvSpPr>
          <p:cNvPr id="20" name="标题 1"/>
          <p:cNvSpPr txBox="1"/>
          <p:nvPr/>
        </p:nvSpPr>
        <p:spPr>
          <a:xfrm>
            <a:off x="4099400" y="557950"/>
            <a:ext cx="540562" cy="937497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flipH="1">
            <a:off x="5326267" y="183972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5326267" y="513755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flipH="1">
            <a:off x="5326267" y="1143341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16200000" flipH="1">
            <a:off x="10317964" y="-920868"/>
            <a:ext cx="662686" cy="3121389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9000000" scaled="0"/>
          </a:gradFill>
          <a:ln w="9525" cap="flat">
            <a:solidFill>
              <a:srgbClr val="FFFFFF">
                <a:alpha val="100000"/>
              </a:srgbClr>
            </a:solidFill>
            <a:miter/>
          </a:ln>
          <a:effectLst>
            <a:outerShdw blurRad="114300" dist="38100" dir="2700000" algn="tl" rotWithShape="0">
              <a:schemeClr val="accent1">
                <a:alpha val="6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9741924" y="527148"/>
            <a:ext cx="1814767" cy="225356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flipH="1">
            <a:off x="3482716" y="6325849"/>
            <a:ext cx="8727286" cy="2704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flipH="1">
            <a:off x="3482716" y="6587598"/>
            <a:ext cx="8727286" cy="2704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flipH="1">
            <a:off x="7394609" y="2624409"/>
            <a:ext cx="473606" cy="473606"/>
          </a:xfrm>
          <a:prstGeom prst="ellips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29" name="Group 28"/>
          <p:cNvGrpSpPr/>
          <p:nvPr/>
        </p:nvGrpSpPr>
        <p:grpSpPr>
          <a:xfrm>
            <a:off x="7512025" y="2746507"/>
            <a:ext cx="238772" cy="229410"/>
            <a:chOff x="7512025" y="2746507"/>
            <a:chExt cx="238772" cy="229410"/>
          </a:xfrm>
        </p:grpSpPr>
        <p:cxnSp>
          <p:nvCxnSpPr>
            <p:cNvPr id="30" name="标题 1"/>
            <p:cNvCxnSpPr/>
            <p:nvPr/>
          </p:nvCxnSpPr>
          <p:spPr>
            <a:xfrm>
              <a:off x="7512025" y="2858871"/>
              <a:ext cx="229410" cy="0"/>
            </a:xfrm>
            <a:prstGeom prst="line">
              <a:avLst/>
            </a:prstGeom>
            <a:noFill/>
            <a:ln w="12700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</p:cxnSp>
        <p:cxnSp>
          <p:nvCxnSpPr>
            <p:cNvPr id="31" name="标题 1"/>
            <p:cNvCxnSpPr/>
            <p:nvPr/>
          </p:nvCxnSpPr>
          <p:spPr>
            <a:xfrm flipV="1">
              <a:off x="7661844" y="2858871"/>
              <a:ext cx="88953" cy="117046"/>
            </a:xfrm>
            <a:prstGeom prst="line">
              <a:avLst/>
            </a:prstGeom>
            <a:noFill/>
            <a:ln w="12700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</p:cxnSp>
        <p:cxnSp>
          <p:nvCxnSpPr>
            <p:cNvPr id="32" name="标题 1"/>
            <p:cNvCxnSpPr/>
            <p:nvPr/>
          </p:nvCxnSpPr>
          <p:spPr>
            <a:xfrm>
              <a:off x="7661844" y="2746507"/>
              <a:ext cx="88953" cy="117046"/>
            </a:xfrm>
            <a:prstGeom prst="line">
              <a:avLst/>
            </a:prstGeom>
            <a:noFill/>
            <a:ln w="12700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</p:cxnSp>
      </p:grpSp>
      <p:sp>
        <p:nvSpPr>
          <p:cNvPr id="33" name="标题 1"/>
          <p:cNvSpPr txBox="1"/>
          <p:nvPr/>
        </p:nvSpPr>
        <p:spPr>
          <a:xfrm>
            <a:off x="8221317" y="2443975"/>
            <a:ext cx="2092587" cy="8414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r">
              <a:lnSpc>
                <a:spcPct val="100000"/>
              </a:lnSpc>
            </a:pP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/>
                    </a:gs>
                  </a:gsLst>
                  <a:lin ang="10800000" scaled="0"/>
                </a:gradFill>
                <a:latin typeface="Source Han Sans CN Bold Bold"/>
                <a:ea typeface="Source Han Sans CN Bold Bold"/>
                <a:cs typeface="Source Han Sans CN Bold Bold"/>
              </a:rPr>
              <a:t>P</a:t>
            </a: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/>
                    </a:gs>
                  </a:gsLst>
                  <a:lin ang="10800000" scaled="0"/>
                </a:gradFill>
                <a:latin typeface="Source Han Sans CN Bold Bold"/>
                <a:ea typeface="Source Han Sans CN Bold Bold"/>
                <a:cs typeface="Source Han Sans CN Bold Bold"/>
              </a:rPr>
              <a:t>art</a:t>
            </a: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10348486" y="1291391"/>
            <a:ext cx="1416028" cy="19940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/>
                    </a:gs>
                  </a:gsLst>
                  <a:lin ang="10800000" scaled="0"/>
                </a:gradFill>
                <a:latin typeface="Source Han Sans CN Bold Bold"/>
                <a:ea typeface="Source Han Sans CN Bold Bold"/>
                <a:cs typeface="Source Han Sans CN Bold Bold"/>
              </a:rPr>
              <a:t>03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18002" y="6541477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18002" y="6697165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0400" y="1254045"/>
            <a:ext cx="9461611" cy="1428584"/>
          </a:xfrm>
          <a:prstGeom prst="roundRect">
            <a:avLst>
              <a:gd name="adj" fmla="val 8797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2032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06670" y="1366357"/>
            <a:ext cx="8969071" cy="10901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数字证书与学历认证：学生完成课程后获得的证书可以铸造成NFT，确保唯一性和真实性，实现全球认可，有效防止证书造假，提升证书权威性。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5400000">
            <a:off x="9962984" y="1130300"/>
            <a:ext cx="274984" cy="274984"/>
          </a:xfrm>
          <a:custGeom>
            <a:avLst/>
            <a:gdLst>
              <a:gd name="connsiteX0" fmla="*/ 0 w 1272540"/>
              <a:gd name="connsiteY0" fmla="*/ 636270 h 1272540"/>
              <a:gd name="connsiteX1" fmla="*/ 152400 w 1272540"/>
              <a:gd name="connsiteY1" fmla="*/ 483870 h 1272540"/>
              <a:gd name="connsiteX2" fmla="*/ 483870 w 1272540"/>
              <a:gd name="connsiteY2" fmla="*/ 483870 h 1272540"/>
              <a:gd name="connsiteX3" fmla="*/ 483870 w 1272540"/>
              <a:gd name="connsiteY3" fmla="*/ 152400 h 1272540"/>
              <a:gd name="connsiteX4" fmla="*/ 636270 w 1272540"/>
              <a:gd name="connsiteY4" fmla="*/ 0 h 1272540"/>
              <a:gd name="connsiteX5" fmla="*/ 788670 w 1272540"/>
              <a:gd name="connsiteY5" fmla="*/ 152400 h 1272540"/>
              <a:gd name="connsiteX6" fmla="*/ 788670 w 1272540"/>
              <a:gd name="connsiteY6" fmla="*/ 483870 h 1272540"/>
              <a:gd name="connsiteX7" fmla="*/ 1120140 w 1272540"/>
              <a:gd name="connsiteY7" fmla="*/ 483870 h 1272540"/>
              <a:gd name="connsiteX8" fmla="*/ 1272540 w 1272540"/>
              <a:gd name="connsiteY8" fmla="*/ 636270 h 1272540"/>
              <a:gd name="connsiteX9" fmla="*/ 1120140 w 1272540"/>
              <a:gd name="connsiteY9" fmla="*/ 788670 h 1272540"/>
              <a:gd name="connsiteX10" fmla="*/ 788670 w 1272540"/>
              <a:gd name="connsiteY10" fmla="*/ 788670 h 1272540"/>
              <a:gd name="connsiteX11" fmla="*/ 788670 w 1272540"/>
              <a:gd name="connsiteY11" fmla="*/ 1120140 h 1272540"/>
              <a:gd name="connsiteX12" fmla="*/ 636270 w 1272540"/>
              <a:gd name="connsiteY12" fmla="*/ 1272540 h 1272540"/>
              <a:gd name="connsiteX13" fmla="*/ 483870 w 1272540"/>
              <a:gd name="connsiteY13" fmla="*/ 1120140 h 1272540"/>
              <a:gd name="connsiteX14" fmla="*/ 483870 w 1272540"/>
              <a:gd name="connsiteY14" fmla="*/ 788670 h 1272540"/>
              <a:gd name="connsiteX15" fmla="*/ 152400 w 1272540"/>
              <a:gd name="connsiteY15" fmla="*/ 788670 h 1272540"/>
              <a:gd name="connsiteX16" fmla="*/ 0 w 1272540"/>
              <a:gd name="connsiteY16" fmla="*/ 636270 h 1272540"/>
            </a:gdLst>
            <a:ahLst/>
            <a:cxnLst/>
            <a:rect l="l" t="t" r="r" b="b"/>
            <a:pathLst>
              <a:path w="1272540" h="1272540">
                <a:moveTo>
                  <a:pt x="0" y="636270"/>
                </a:moveTo>
                <a:cubicBezTo>
                  <a:pt x="0" y="552102"/>
                  <a:pt x="68232" y="483870"/>
                  <a:pt x="152400" y="483870"/>
                </a:cubicBezTo>
                <a:lnTo>
                  <a:pt x="483870" y="483870"/>
                </a:lnTo>
                <a:lnTo>
                  <a:pt x="483870" y="152400"/>
                </a:lnTo>
                <a:cubicBezTo>
                  <a:pt x="483870" y="68232"/>
                  <a:pt x="552102" y="0"/>
                  <a:pt x="636270" y="0"/>
                </a:cubicBezTo>
                <a:cubicBezTo>
                  <a:pt x="720438" y="0"/>
                  <a:pt x="788670" y="68232"/>
                  <a:pt x="788670" y="152400"/>
                </a:cubicBezTo>
                <a:lnTo>
                  <a:pt x="788670" y="483870"/>
                </a:lnTo>
                <a:lnTo>
                  <a:pt x="1120140" y="483870"/>
                </a:lnTo>
                <a:cubicBezTo>
                  <a:pt x="1204308" y="483870"/>
                  <a:pt x="1272540" y="552102"/>
                  <a:pt x="1272540" y="636270"/>
                </a:cubicBezTo>
                <a:cubicBezTo>
                  <a:pt x="1272540" y="720438"/>
                  <a:pt x="1204308" y="788670"/>
                  <a:pt x="1120140" y="788670"/>
                </a:cubicBezTo>
                <a:lnTo>
                  <a:pt x="788670" y="788670"/>
                </a:lnTo>
                <a:lnTo>
                  <a:pt x="788670" y="1120140"/>
                </a:lnTo>
                <a:cubicBezTo>
                  <a:pt x="788670" y="1204308"/>
                  <a:pt x="720438" y="1272540"/>
                  <a:pt x="636270" y="1272540"/>
                </a:cubicBezTo>
                <a:cubicBezTo>
                  <a:pt x="552102" y="1272540"/>
                  <a:pt x="483870" y="1204308"/>
                  <a:pt x="483870" y="1120140"/>
                </a:cubicBezTo>
                <a:lnTo>
                  <a:pt x="483870" y="788670"/>
                </a:lnTo>
                <a:lnTo>
                  <a:pt x="152400" y="788670"/>
                </a:lnTo>
                <a:cubicBezTo>
                  <a:pt x="68232" y="788670"/>
                  <a:pt x="0" y="720438"/>
                  <a:pt x="0" y="636270"/>
                </a:cubicBez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193912" y="2934061"/>
            <a:ext cx="9461611" cy="1428584"/>
          </a:xfrm>
          <a:prstGeom prst="roundRect">
            <a:avLst>
              <a:gd name="adj" fmla="val 8797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2032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440182" y="3046373"/>
            <a:ext cx="8969071" cy="10901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学习资源版权保护：教学视频、音频、文档等学习资源可铸造成NFT，保护创作者版权，实现更公平的收益分配，激励更多优质内容创作。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10503672" y="2834170"/>
            <a:ext cx="274984" cy="274984"/>
          </a:xfrm>
          <a:custGeom>
            <a:avLst/>
            <a:gdLst>
              <a:gd name="connsiteX0" fmla="*/ 0 w 1272540"/>
              <a:gd name="connsiteY0" fmla="*/ 636270 h 1272540"/>
              <a:gd name="connsiteX1" fmla="*/ 152400 w 1272540"/>
              <a:gd name="connsiteY1" fmla="*/ 483870 h 1272540"/>
              <a:gd name="connsiteX2" fmla="*/ 483870 w 1272540"/>
              <a:gd name="connsiteY2" fmla="*/ 483870 h 1272540"/>
              <a:gd name="connsiteX3" fmla="*/ 483870 w 1272540"/>
              <a:gd name="connsiteY3" fmla="*/ 152400 h 1272540"/>
              <a:gd name="connsiteX4" fmla="*/ 636270 w 1272540"/>
              <a:gd name="connsiteY4" fmla="*/ 0 h 1272540"/>
              <a:gd name="connsiteX5" fmla="*/ 788670 w 1272540"/>
              <a:gd name="connsiteY5" fmla="*/ 152400 h 1272540"/>
              <a:gd name="connsiteX6" fmla="*/ 788670 w 1272540"/>
              <a:gd name="connsiteY6" fmla="*/ 483870 h 1272540"/>
              <a:gd name="connsiteX7" fmla="*/ 1120140 w 1272540"/>
              <a:gd name="connsiteY7" fmla="*/ 483870 h 1272540"/>
              <a:gd name="connsiteX8" fmla="*/ 1272540 w 1272540"/>
              <a:gd name="connsiteY8" fmla="*/ 636270 h 1272540"/>
              <a:gd name="connsiteX9" fmla="*/ 1120140 w 1272540"/>
              <a:gd name="connsiteY9" fmla="*/ 788670 h 1272540"/>
              <a:gd name="connsiteX10" fmla="*/ 788670 w 1272540"/>
              <a:gd name="connsiteY10" fmla="*/ 788670 h 1272540"/>
              <a:gd name="connsiteX11" fmla="*/ 788670 w 1272540"/>
              <a:gd name="connsiteY11" fmla="*/ 1120140 h 1272540"/>
              <a:gd name="connsiteX12" fmla="*/ 636270 w 1272540"/>
              <a:gd name="connsiteY12" fmla="*/ 1272540 h 1272540"/>
              <a:gd name="connsiteX13" fmla="*/ 483870 w 1272540"/>
              <a:gd name="connsiteY13" fmla="*/ 1120140 h 1272540"/>
              <a:gd name="connsiteX14" fmla="*/ 483870 w 1272540"/>
              <a:gd name="connsiteY14" fmla="*/ 788670 h 1272540"/>
              <a:gd name="connsiteX15" fmla="*/ 152400 w 1272540"/>
              <a:gd name="connsiteY15" fmla="*/ 788670 h 1272540"/>
              <a:gd name="connsiteX16" fmla="*/ 0 w 1272540"/>
              <a:gd name="connsiteY16" fmla="*/ 636270 h 1272540"/>
            </a:gdLst>
            <a:ahLst/>
            <a:cxnLst/>
            <a:rect l="l" t="t" r="r" b="b"/>
            <a:pathLst>
              <a:path w="1272540" h="1272540">
                <a:moveTo>
                  <a:pt x="0" y="636270"/>
                </a:moveTo>
                <a:cubicBezTo>
                  <a:pt x="0" y="552102"/>
                  <a:pt x="68232" y="483870"/>
                  <a:pt x="152400" y="483870"/>
                </a:cubicBezTo>
                <a:lnTo>
                  <a:pt x="483870" y="483870"/>
                </a:lnTo>
                <a:lnTo>
                  <a:pt x="483870" y="152400"/>
                </a:lnTo>
                <a:cubicBezTo>
                  <a:pt x="483870" y="68232"/>
                  <a:pt x="552102" y="0"/>
                  <a:pt x="636270" y="0"/>
                </a:cubicBezTo>
                <a:cubicBezTo>
                  <a:pt x="720438" y="0"/>
                  <a:pt x="788670" y="68232"/>
                  <a:pt x="788670" y="152400"/>
                </a:cubicBezTo>
                <a:lnTo>
                  <a:pt x="788670" y="483870"/>
                </a:lnTo>
                <a:lnTo>
                  <a:pt x="1120140" y="483870"/>
                </a:lnTo>
                <a:cubicBezTo>
                  <a:pt x="1204308" y="483870"/>
                  <a:pt x="1272540" y="552102"/>
                  <a:pt x="1272540" y="636270"/>
                </a:cubicBezTo>
                <a:cubicBezTo>
                  <a:pt x="1272540" y="720438"/>
                  <a:pt x="1204308" y="788670"/>
                  <a:pt x="1120140" y="788670"/>
                </a:cubicBezTo>
                <a:lnTo>
                  <a:pt x="788670" y="788670"/>
                </a:lnTo>
                <a:lnTo>
                  <a:pt x="788670" y="1120140"/>
                </a:lnTo>
                <a:cubicBezTo>
                  <a:pt x="788670" y="1204308"/>
                  <a:pt x="720438" y="1272540"/>
                  <a:pt x="636270" y="1272540"/>
                </a:cubicBezTo>
                <a:cubicBezTo>
                  <a:pt x="552102" y="1272540"/>
                  <a:pt x="483870" y="1204308"/>
                  <a:pt x="483870" y="1120140"/>
                </a:cubicBezTo>
                <a:lnTo>
                  <a:pt x="483870" y="788670"/>
                </a:lnTo>
                <a:lnTo>
                  <a:pt x="152400" y="788670"/>
                </a:lnTo>
                <a:cubicBezTo>
                  <a:pt x="68232" y="788670"/>
                  <a:pt x="0" y="720438"/>
                  <a:pt x="0" y="63627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639183" y="4614076"/>
            <a:ext cx="9461611" cy="1428584"/>
          </a:xfrm>
          <a:prstGeom prst="roundRect">
            <a:avLst>
              <a:gd name="adj" fmla="val 8797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2032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885453" y="4726388"/>
            <a:ext cx="8969071" cy="10901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个性化学习档案：将学生学习进度、成绩、获得的成就等信息以NFT形式记录，形成个性化学习档案，可追踪溯源，全面展示学习历程。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5400000">
            <a:off x="10933043" y="4514185"/>
            <a:ext cx="274984" cy="274984"/>
          </a:xfrm>
          <a:custGeom>
            <a:avLst/>
            <a:gdLst>
              <a:gd name="connsiteX0" fmla="*/ 0 w 1272540"/>
              <a:gd name="connsiteY0" fmla="*/ 636270 h 1272540"/>
              <a:gd name="connsiteX1" fmla="*/ 152400 w 1272540"/>
              <a:gd name="connsiteY1" fmla="*/ 483870 h 1272540"/>
              <a:gd name="connsiteX2" fmla="*/ 483870 w 1272540"/>
              <a:gd name="connsiteY2" fmla="*/ 483870 h 1272540"/>
              <a:gd name="connsiteX3" fmla="*/ 483870 w 1272540"/>
              <a:gd name="connsiteY3" fmla="*/ 152400 h 1272540"/>
              <a:gd name="connsiteX4" fmla="*/ 636270 w 1272540"/>
              <a:gd name="connsiteY4" fmla="*/ 0 h 1272540"/>
              <a:gd name="connsiteX5" fmla="*/ 788670 w 1272540"/>
              <a:gd name="connsiteY5" fmla="*/ 152400 h 1272540"/>
              <a:gd name="connsiteX6" fmla="*/ 788670 w 1272540"/>
              <a:gd name="connsiteY6" fmla="*/ 483870 h 1272540"/>
              <a:gd name="connsiteX7" fmla="*/ 1120140 w 1272540"/>
              <a:gd name="connsiteY7" fmla="*/ 483870 h 1272540"/>
              <a:gd name="connsiteX8" fmla="*/ 1272540 w 1272540"/>
              <a:gd name="connsiteY8" fmla="*/ 636270 h 1272540"/>
              <a:gd name="connsiteX9" fmla="*/ 1120140 w 1272540"/>
              <a:gd name="connsiteY9" fmla="*/ 788670 h 1272540"/>
              <a:gd name="connsiteX10" fmla="*/ 788670 w 1272540"/>
              <a:gd name="connsiteY10" fmla="*/ 788670 h 1272540"/>
              <a:gd name="connsiteX11" fmla="*/ 788670 w 1272540"/>
              <a:gd name="connsiteY11" fmla="*/ 1120140 h 1272540"/>
              <a:gd name="connsiteX12" fmla="*/ 636270 w 1272540"/>
              <a:gd name="connsiteY12" fmla="*/ 1272540 h 1272540"/>
              <a:gd name="connsiteX13" fmla="*/ 483870 w 1272540"/>
              <a:gd name="connsiteY13" fmla="*/ 1120140 h 1272540"/>
              <a:gd name="connsiteX14" fmla="*/ 483870 w 1272540"/>
              <a:gd name="connsiteY14" fmla="*/ 788670 h 1272540"/>
              <a:gd name="connsiteX15" fmla="*/ 152400 w 1272540"/>
              <a:gd name="connsiteY15" fmla="*/ 788670 h 1272540"/>
              <a:gd name="connsiteX16" fmla="*/ 0 w 1272540"/>
              <a:gd name="connsiteY16" fmla="*/ 636270 h 1272540"/>
            </a:gdLst>
            <a:ahLst/>
            <a:cxnLst/>
            <a:rect l="l" t="t" r="r" b="b"/>
            <a:pathLst>
              <a:path w="1272540" h="1272540">
                <a:moveTo>
                  <a:pt x="0" y="636270"/>
                </a:moveTo>
                <a:cubicBezTo>
                  <a:pt x="0" y="552102"/>
                  <a:pt x="68232" y="483870"/>
                  <a:pt x="152400" y="483870"/>
                </a:cubicBezTo>
                <a:lnTo>
                  <a:pt x="483870" y="483870"/>
                </a:lnTo>
                <a:lnTo>
                  <a:pt x="483870" y="152400"/>
                </a:lnTo>
                <a:cubicBezTo>
                  <a:pt x="483870" y="68232"/>
                  <a:pt x="552102" y="0"/>
                  <a:pt x="636270" y="0"/>
                </a:cubicBezTo>
                <a:cubicBezTo>
                  <a:pt x="720438" y="0"/>
                  <a:pt x="788670" y="68232"/>
                  <a:pt x="788670" y="152400"/>
                </a:cubicBezTo>
                <a:lnTo>
                  <a:pt x="788670" y="483870"/>
                </a:lnTo>
                <a:lnTo>
                  <a:pt x="1120140" y="483870"/>
                </a:lnTo>
                <a:cubicBezTo>
                  <a:pt x="1204308" y="483870"/>
                  <a:pt x="1272540" y="552102"/>
                  <a:pt x="1272540" y="636270"/>
                </a:cubicBezTo>
                <a:cubicBezTo>
                  <a:pt x="1272540" y="720438"/>
                  <a:pt x="1204308" y="788670"/>
                  <a:pt x="1120140" y="788670"/>
                </a:cubicBezTo>
                <a:lnTo>
                  <a:pt x="788670" y="788670"/>
                </a:lnTo>
                <a:lnTo>
                  <a:pt x="788670" y="1120140"/>
                </a:lnTo>
                <a:cubicBezTo>
                  <a:pt x="788670" y="1204308"/>
                  <a:pt x="720438" y="1272540"/>
                  <a:pt x="636270" y="1272540"/>
                </a:cubicBezTo>
                <a:cubicBezTo>
                  <a:pt x="552102" y="1272540"/>
                  <a:pt x="483870" y="1204308"/>
                  <a:pt x="483870" y="1120140"/>
                </a:cubicBezTo>
                <a:lnTo>
                  <a:pt x="483870" y="788670"/>
                </a:lnTo>
                <a:lnTo>
                  <a:pt x="152400" y="788670"/>
                </a:lnTo>
                <a:cubicBezTo>
                  <a:pt x="68232" y="788670"/>
                  <a:pt x="0" y="720438"/>
                  <a:pt x="0" y="636270"/>
                </a:cubicBez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NFT在多邻国的创新应用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18002" y="6541477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18002" y="6697165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860871" y="2469768"/>
            <a:ext cx="2661737" cy="3759868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145646" y="2469768"/>
            <a:ext cx="2661737" cy="3759868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430422" y="2469768"/>
            <a:ext cx="2661737" cy="3759868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430422" y="1540042"/>
            <a:ext cx="2676024" cy="1622877"/>
          </a:xfrm>
          <a:prstGeom prst="round2DiagRect">
            <a:avLst/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0400" y="3162919"/>
            <a:ext cx="770021" cy="741947"/>
          </a:xfrm>
          <a:prstGeom prst="round2DiagRect">
            <a:avLst/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145647" y="1540042"/>
            <a:ext cx="2676024" cy="1622877"/>
          </a:xfrm>
          <a:prstGeom prst="round2DiagRect">
            <a:avLst/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375625" y="3162919"/>
            <a:ext cx="770021" cy="741947"/>
          </a:xfrm>
          <a:prstGeom prst="round2DiagRect">
            <a:avLst/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615980" y="3425944"/>
            <a:ext cx="2348069" cy="27395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提升用户激励机制：用户获得的NFT证书、成就等，是对其学习成果的认可，具有收藏价值，可激励用户更积极地学习，提高学习动力和参与度。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309624" y="3425944"/>
            <a:ext cx="2348069" cy="27395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促进学习社区互动：NFT持有者可进入专属学习社区，与老师和同学互动、分享学习经验，形成良好学习氛围，增强用户粘性。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85539" y="3284236"/>
            <a:ext cx="719743" cy="4993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01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400764" y="3284237"/>
            <a:ext cx="719743" cy="4993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02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860872" y="1540042"/>
            <a:ext cx="2676024" cy="1622877"/>
          </a:xfrm>
          <a:prstGeom prst="round2DiagRect">
            <a:avLst/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090850" y="3162919"/>
            <a:ext cx="770021" cy="741947"/>
          </a:xfrm>
          <a:prstGeom prst="round2DiagRect">
            <a:avLst/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8115989" y="3284237"/>
            <a:ext cx="719743" cy="49931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03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9024849" y="3425944"/>
            <a:ext cx="2348069" cy="273952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拓展学习资源获取途径：学生可通过购买或交换NFT获取个性化学习资源，如特定课程、学习工具等，丰富学习内容和方式。</a:t>
            </a:r>
            <a:endParaRPr kumimoji="1" lang="zh-CN" alt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">
            <a:alphaModFix amt="100000"/>
          </a:blip>
          <a:srcRect l="1343" r="1343"/>
          <a:stretch>
            <a:fillRect/>
          </a:stretch>
        </p:blipFill>
        <p:spPr>
          <a:xfrm>
            <a:off x="1544399" y="1643957"/>
            <a:ext cx="2448070" cy="1415047"/>
          </a:xfrm>
          <a:custGeom>
            <a:avLst/>
            <a:gdLst>
              <a:gd name="connsiteX0" fmla="*/ 235846 w 2676024"/>
              <a:gd name="connsiteY0" fmla="*/ 0 h 1415047"/>
              <a:gd name="connsiteX1" fmla="*/ 2676024 w 2676024"/>
              <a:gd name="connsiteY1" fmla="*/ 0 h 1415047"/>
              <a:gd name="connsiteX2" fmla="*/ 2676024 w 2676024"/>
              <a:gd name="connsiteY2" fmla="*/ 1179201 h 1415047"/>
              <a:gd name="connsiteX3" fmla="*/ 2440178 w 2676024"/>
              <a:gd name="connsiteY3" fmla="*/ 1415047 h 1415047"/>
              <a:gd name="connsiteX4" fmla="*/ 0 w 2676024"/>
              <a:gd name="connsiteY4" fmla="*/ 1415047 h 1415047"/>
              <a:gd name="connsiteX5" fmla="*/ 0 w 2676024"/>
              <a:gd name="connsiteY5" fmla="*/ 235846 h 1415047"/>
              <a:gd name="connsiteX6" fmla="*/ 235846 w 2676024"/>
              <a:gd name="connsiteY6" fmla="*/ 0 h 1415047"/>
            </a:gdLst>
            <a:ahLst/>
            <a:cxnLst/>
            <a:rect l="l" t="t" r="r" b="b"/>
            <a:pathLst>
              <a:path w="2676024" h="1415047">
                <a:moveTo>
                  <a:pt x="235846" y="0"/>
                </a:moveTo>
                <a:lnTo>
                  <a:pt x="2676024" y="0"/>
                </a:lnTo>
                <a:lnTo>
                  <a:pt x="2676024" y="1179201"/>
                </a:lnTo>
                <a:cubicBezTo>
                  <a:pt x="2676024" y="1309455"/>
                  <a:pt x="2570432" y="1415047"/>
                  <a:pt x="2440178" y="1415047"/>
                </a:cubicBezTo>
                <a:lnTo>
                  <a:pt x="0" y="1415047"/>
                </a:lnTo>
                <a:lnTo>
                  <a:pt x="0" y="235846"/>
                </a:lnTo>
                <a:cubicBezTo>
                  <a:pt x="0" y="105592"/>
                  <a:pt x="105592" y="0"/>
                  <a:pt x="235846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alphaModFix amt="100000"/>
          </a:blip>
          <a:srcRect l="1343" r="1343"/>
          <a:stretch>
            <a:fillRect/>
          </a:stretch>
        </p:blipFill>
        <p:spPr>
          <a:xfrm>
            <a:off x="5259624" y="1643957"/>
            <a:ext cx="2448070" cy="1415047"/>
          </a:xfrm>
          <a:custGeom>
            <a:avLst/>
            <a:gdLst>
              <a:gd name="connsiteX0" fmla="*/ 235846 w 2676024"/>
              <a:gd name="connsiteY0" fmla="*/ 0 h 1415047"/>
              <a:gd name="connsiteX1" fmla="*/ 2676024 w 2676024"/>
              <a:gd name="connsiteY1" fmla="*/ 0 h 1415047"/>
              <a:gd name="connsiteX2" fmla="*/ 2676024 w 2676024"/>
              <a:gd name="connsiteY2" fmla="*/ 1179201 h 1415047"/>
              <a:gd name="connsiteX3" fmla="*/ 2440178 w 2676024"/>
              <a:gd name="connsiteY3" fmla="*/ 1415047 h 1415047"/>
              <a:gd name="connsiteX4" fmla="*/ 0 w 2676024"/>
              <a:gd name="connsiteY4" fmla="*/ 1415047 h 1415047"/>
              <a:gd name="connsiteX5" fmla="*/ 0 w 2676024"/>
              <a:gd name="connsiteY5" fmla="*/ 235846 h 1415047"/>
              <a:gd name="connsiteX6" fmla="*/ 235846 w 2676024"/>
              <a:gd name="connsiteY6" fmla="*/ 0 h 1415047"/>
            </a:gdLst>
            <a:ahLst/>
            <a:cxnLst/>
            <a:rect l="l" t="t" r="r" b="b"/>
            <a:pathLst>
              <a:path w="2676024" h="1415047">
                <a:moveTo>
                  <a:pt x="235846" y="0"/>
                </a:moveTo>
                <a:lnTo>
                  <a:pt x="2676024" y="0"/>
                </a:lnTo>
                <a:lnTo>
                  <a:pt x="2676024" y="1179201"/>
                </a:lnTo>
                <a:cubicBezTo>
                  <a:pt x="2676024" y="1309455"/>
                  <a:pt x="2570432" y="1415047"/>
                  <a:pt x="2440178" y="1415047"/>
                </a:cubicBezTo>
                <a:lnTo>
                  <a:pt x="0" y="1415047"/>
                </a:lnTo>
                <a:lnTo>
                  <a:pt x="0" y="235846"/>
                </a:lnTo>
                <a:cubicBezTo>
                  <a:pt x="0" y="105592"/>
                  <a:pt x="105592" y="0"/>
                  <a:pt x="235846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alphaModFix amt="100000"/>
          </a:blip>
          <a:srcRect l="1521" r="1521"/>
          <a:stretch>
            <a:fillRect/>
          </a:stretch>
        </p:blipFill>
        <p:spPr>
          <a:xfrm>
            <a:off x="8974849" y="1643957"/>
            <a:ext cx="2448070" cy="1415047"/>
          </a:xfrm>
          <a:custGeom>
            <a:avLst/>
            <a:gdLst>
              <a:gd name="connsiteX0" fmla="*/ 235846 w 2676024"/>
              <a:gd name="connsiteY0" fmla="*/ 0 h 1415047"/>
              <a:gd name="connsiteX1" fmla="*/ 2676024 w 2676024"/>
              <a:gd name="connsiteY1" fmla="*/ 0 h 1415047"/>
              <a:gd name="connsiteX2" fmla="*/ 2676024 w 2676024"/>
              <a:gd name="connsiteY2" fmla="*/ 1179201 h 1415047"/>
              <a:gd name="connsiteX3" fmla="*/ 2440178 w 2676024"/>
              <a:gd name="connsiteY3" fmla="*/ 1415047 h 1415047"/>
              <a:gd name="connsiteX4" fmla="*/ 0 w 2676024"/>
              <a:gd name="connsiteY4" fmla="*/ 1415047 h 1415047"/>
              <a:gd name="connsiteX5" fmla="*/ 0 w 2676024"/>
              <a:gd name="connsiteY5" fmla="*/ 235846 h 1415047"/>
              <a:gd name="connsiteX6" fmla="*/ 235846 w 2676024"/>
              <a:gd name="connsiteY6" fmla="*/ 0 h 1415047"/>
            </a:gdLst>
            <a:ahLst/>
            <a:cxnLst/>
            <a:rect l="l" t="t" r="r" b="b"/>
            <a:pathLst>
              <a:path w="2676024" h="1415047">
                <a:moveTo>
                  <a:pt x="235846" y="0"/>
                </a:moveTo>
                <a:lnTo>
                  <a:pt x="2676024" y="0"/>
                </a:lnTo>
                <a:lnTo>
                  <a:pt x="2676024" y="1179201"/>
                </a:lnTo>
                <a:cubicBezTo>
                  <a:pt x="2676024" y="1309455"/>
                  <a:pt x="2570432" y="1415047"/>
                  <a:pt x="2440178" y="1415047"/>
                </a:cubicBezTo>
                <a:lnTo>
                  <a:pt x="0" y="1415047"/>
                </a:lnTo>
                <a:lnTo>
                  <a:pt x="0" y="235846"/>
                </a:lnTo>
                <a:cubicBezTo>
                  <a:pt x="0" y="105592"/>
                  <a:pt x="105592" y="0"/>
                  <a:pt x="23584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3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NFT对多邻国学习生态的影响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551180" y="102870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18002" y="6541477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18002" y="6697165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/>
              <a:t>Trilingo</a:t>
            </a:r>
            <a:r>
              <a:rPr kumimoji="1" lang="zh-CN" altLang="en-US"/>
              <a:t>的</a:t>
            </a:r>
            <a:r>
              <a:rPr kumimoji="1" lang="en-US" altLang="zh-CN"/>
              <a:t>NFT</a:t>
            </a:r>
            <a:r>
              <a:rPr kumimoji="1" lang="zh-CN" altLang="en-US"/>
              <a:t>生态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615" y="1341120"/>
            <a:ext cx="9977755" cy="48856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983615" y="112522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18002" y="6541477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18002" y="6697165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Trilingo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的</a:t>
            </a: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学习</a:t>
            </a: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流程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 Bold"/>
              <a:ea typeface="Source Han Sans CN Bold Bold"/>
              <a:cs typeface="Source Han Sans CN Bold Bold"/>
            </a:endParaRPr>
          </a:p>
        </p:txBody>
      </p:sp>
      <p:sp>
        <p:nvSpPr>
          <p:cNvPr id="24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1917065"/>
            <a:ext cx="11097260" cy="32435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254834" y="0"/>
            <a:ext cx="3227882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flipH="1"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flipH="1">
            <a:off x="7559296" y="5171142"/>
            <a:ext cx="4632705" cy="1686859"/>
          </a:xfrm>
          <a:custGeom>
            <a:avLst/>
            <a:gdLst>
              <a:gd name="connsiteX0" fmla="*/ 0 w 4632705"/>
              <a:gd name="connsiteY0" fmla="*/ 0 h 1686859"/>
              <a:gd name="connsiteX1" fmla="*/ 4632705 w 4632705"/>
              <a:gd name="connsiteY1" fmla="*/ 0 h 1686859"/>
              <a:gd name="connsiteX2" fmla="*/ 4632705 w 4632705"/>
              <a:gd name="connsiteY2" fmla="*/ 1686859 h 1686859"/>
              <a:gd name="connsiteX3" fmla="*/ 0 w 4632705"/>
              <a:gd name="connsiteY3" fmla="*/ 1686859 h 1686859"/>
            </a:gdLst>
            <a:ahLst/>
            <a:cxnLst/>
            <a:rect l="l" t="t" r="r" b="b"/>
            <a:pathLst>
              <a:path w="4632705" h="1686859">
                <a:moveTo>
                  <a:pt x="0" y="0"/>
                </a:moveTo>
                <a:lnTo>
                  <a:pt x="4632705" y="0"/>
                </a:lnTo>
                <a:lnTo>
                  <a:pt x="4632705" y="1686859"/>
                </a:lnTo>
                <a:lnTo>
                  <a:pt x="0" y="168685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>
            <a:off x="5326267" y="-10900"/>
            <a:ext cx="6883735" cy="4595094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flipH="1">
            <a:off x="1" y="0"/>
            <a:ext cx="3227882" cy="6858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2"/>
              </a:gs>
            </a:gsLst>
            <a:lin ang="90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H="1">
            <a:off x="166" y="3360956"/>
            <a:ext cx="6883735" cy="3497045"/>
          </a:xfrm>
          <a:custGeom>
            <a:avLst/>
            <a:gdLst>
              <a:gd name="connsiteX0" fmla="*/ 0 w 6883735"/>
              <a:gd name="connsiteY0" fmla="*/ 0 h 3497045"/>
              <a:gd name="connsiteX1" fmla="*/ 6883735 w 6883735"/>
              <a:gd name="connsiteY1" fmla="*/ 0 h 3497045"/>
              <a:gd name="connsiteX2" fmla="*/ 6883735 w 6883735"/>
              <a:gd name="connsiteY2" fmla="*/ 3497045 h 3497045"/>
              <a:gd name="connsiteX3" fmla="*/ 0 w 6883735"/>
              <a:gd name="connsiteY3" fmla="*/ 3497045 h 3497045"/>
            </a:gdLst>
            <a:ahLst/>
            <a:cxnLst/>
            <a:rect l="l" t="t" r="r" b="b"/>
            <a:pathLst>
              <a:path w="6883735" h="3497045">
                <a:moveTo>
                  <a:pt x="0" y="0"/>
                </a:moveTo>
                <a:lnTo>
                  <a:pt x="6883735" y="0"/>
                </a:lnTo>
                <a:lnTo>
                  <a:pt x="6883735" y="3497045"/>
                </a:lnTo>
                <a:lnTo>
                  <a:pt x="0" y="349704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flipH="1">
            <a:off x="0" y="0"/>
            <a:ext cx="5262240" cy="1457211"/>
          </a:xfrm>
          <a:custGeom>
            <a:avLst/>
            <a:gdLst>
              <a:gd name="connsiteX0" fmla="*/ 0 w 4629883"/>
              <a:gd name="connsiteY0" fmla="*/ 0 h 1282100"/>
              <a:gd name="connsiteX1" fmla="*/ 4629883 w 4629883"/>
              <a:gd name="connsiteY1" fmla="*/ 0 h 1282100"/>
              <a:gd name="connsiteX2" fmla="*/ 4629883 w 4629883"/>
              <a:gd name="connsiteY2" fmla="*/ 1282100 h 1282100"/>
              <a:gd name="connsiteX3" fmla="*/ 0 w 4629883"/>
              <a:gd name="connsiteY3" fmla="*/ 1282100 h 1282100"/>
            </a:gdLst>
            <a:ahLst/>
            <a:cxnLst/>
            <a:rect l="l" t="t" r="r" b="b"/>
            <a:pathLst>
              <a:path w="4629883" h="1282100">
                <a:moveTo>
                  <a:pt x="0" y="0"/>
                </a:moveTo>
                <a:lnTo>
                  <a:pt x="4629883" y="0"/>
                </a:lnTo>
                <a:lnTo>
                  <a:pt x="4629883" y="1282100"/>
                </a:lnTo>
                <a:lnTo>
                  <a:pt x="0" y="12821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flipH="1">
            <a:off x="819932" y="1731645"/>
            <a:ext cx="4822206" cy="389018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flipH="1">
            <a:off x="427486" y="758002"/>
            <a:ext cx="2155767" cy="20020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flipH="1">
            <a:off x="427486" y="758002"/>
            <a:ext cx="2155767" cy="389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H="1">
            <a:off x="427486" y="1539465"/>
            <a:ext cx="2155767" cy="12205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>
            <a:off x="4280841" y="5179204"/>
            <a:ext cx="1290650" cy="846842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alphaModFix amt="100000"/>
          </a:blip>
          <a:srcRect l="17504" r="17504"/>
          <a:stretch>
            <a:fillRect/>
          </a:stretch>
        </p:blipFill>
        <p:spPr>
          <a:xfrm flipH="1">
            <a:off x="947382" y="1954517"/>
            <a:ext cx="4134452" cy="356524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 rot="16200000" flipH="1">
            <a:off x="711625" y="5129949"/>
            <a:ext cx="540562" cy="937497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 flipH="1">
            <a:off x="7638757" y="3015876"/>
            <a:ext cx="3892844" cy="21246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54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368635" y="3343318"/>
            <a:ext cx="5203158" cy="161755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kumimoji="1" lang="en-US" altLang="zh-CN" sz="4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Trilingo的未来蓝图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10033781" y="5108446"/>
            <a:ext cx="1507868" cy="1615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dist">
              <a:lnSpc>
                <a:spcPct val="10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808080">
                    <a:alpha val="25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PowerPoint design</a:t>
            </a:r>
            <a:endParaRPr kumimoji="1" lang="zh-CN" altLang="en-US"/>
          </a:p>
        </p:txBody>
      </p:sp>
      <p:cxnSp>
        <p:nvCxnSpPr>
          <p:cNvPr id="19" name="标题 1"/>
          <p:cNvCxnSpPr/>
          <p:nvPr/>
        </p:nvCxnSpPr>
        <p:spPr>
          <a:xfrm flipH="1">
            <a:off x="6945420" y="5197220"/>
            <a:ext cx="2965967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prstDash val="solid"/>
            <a:miter/>
          </a:ln>
        </p:spPr>
      </p:cxnSp>
      <p:sp>
        <p:nvSpPr>
          <p:cNvPr id="20" name="标题 1"/>
          <p:cNvSpPr txBox="1"/>
          <p:nvPr/>
        </p:nvSpPr>
        <p:spPr>
          <a:xfrm>
            <a:off x="4099400" y="557950"/>
            <a:ext cx="540562" cy="937497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 flipH="1">
            <a:off x="5326267" y="183972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 flipH="1">
            <a:off x="5326267" y="513755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 flipH="1">
            <a:off x="5326267" y="1143341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 rot="16200000" flipH="1">
            <a:off x="10317964" y="-920868"/>
            <a:ext cx="662686" cy="3121389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9000000" scaled="0"/>
          </a:gradFill>
          <a:ln w="9525" cap="flat">
            <a:solidFill>
              <a:srgbClr val="FFFFFF">
                <a:alpha val="100000"/>
              </a:srgbClr>
            </a:solidFill>
            <a:miter/>
          </a:ln>
          <a:effectLst>
            <a:outerShdw blurRad="114300" dist="38100" dir="2700000" algn="tl" rotWithShape="0">
              <a:schemeClr val="accent1">
                <a:alpha val="6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9741924" y="527148"/>
            <a:ext cx="1814767" cy="225356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flipH="1">
            <a:off x="3482716" y="6325849"/>
            <a:ext cx="8727286" cy="2704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 flipH="1">
            <a:off x="3482716" y="6587598"/>
            <a:ext cx="8727286" cy="2704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 flipH="1">
            <a:off x="7394609" y="2624409"/>
            <a:ext cx="473606" cy="473606"/>
          </a:xfrm>
          <a:prstGeom prst="ellips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29" name="Group 28"/>
          <p:cNvGrpSpPr/>
          <p:nvPr/>
        </p:nvGrpSpPr>
        <p:grpSpPr>
          <a:xfrm>
            <a:off x="7512025" y="2746507"/>
            <a:ext cx="238772" cy="229410"/>
            <a:chOff x="7512025" y="2746507"/>
            <a:chExt cx="238772" cy="229410"/>
          </a:xfrm>
        </p:grpSpPr>
        <p:cxnSp>
          <p:nvCxnSpPr>
            <p:cNvPr id="30" name="标题 1"/>
            <p:cNvCxnSpPr/>
            <p:nvPr/>
          </p:nvCxnSpPr>
          <p:spPr>
            <a:xfrm>
              <a:off x="7512025" y="2858871"/>
              <a:ext cx="229410" cy="0"/>
            </a:xfrm>
            <a:prstGeom prst="line">
              <a:avLst/>
            </a:prstGeom>
            <a:noFill/>
            <a:ln w="12700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</p:cxnSp>
        <p:cxnSp>
          <p:nvCxnSpPr>
            <p:cNvPr id="31" name="标题 1"/>
            <p:cNvCxnSpPr/>
            <p:nvPr/>
          </p:nvCxnSpPr>
          <p:spPr>
            <a:xfrm flipV="1">
              <a:off x="7661844" y="2858871"/>
              <a:ext cx="88953" cy="117046"/>
            </a:xfrm>
            <a:prstGeom prst="line">
              <a:avLst/>
            </a:prstGeom>
            <a:noFill/>
            <a:ln w="12700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</p:cxnSp>
        <p:cxnSp>
          <p:nvCxnSpPr>
            <p:cNvPr id="32" name="标题 1"/>
            <p:cNvCxnSpPr/>
            <p:nvPr/>
          </p:nvCxnSpPr>
          <p:spPr>
            <a:xfrm>
              <a:off x="7661844" y="2746507"/>
              <a:ext cx="88953" cy="117046"/>
            </a:xfrm>
            <a:prstGeom prst="line">
              <a:avLst/>
            </a:prstGeom>
            <a:noFill/>
            <a:ln w="12700" cap="sq">
              <a:solidFill>
                <a:schemeClr val="tx1">
                  <a:lumMod val="85000"/>
                  <a:lumOff val="15000"/>
                </a:schemeClr>
              </a:solidFill>
              <a:prstDash val="solid"/>
              <a:miter/>
            </a:ln>
          </p:spPr>
        </p:cxnSp>
      </p:grpSp>
      <p:sp>
        <p:nvSpPr>
          <p:cNvPr id="33" name="标题 1"/>
          <p:cNvSpPr txBox="1"/>
          <p:nvPr/>
        </p:nvSpPr>
        <p:spPr>
          <a:xfrm>
            <a:off x="8221317" y="2443975"/>
            <a:ext cx="2092587" cy="8414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r">
              <a:lnSpc>
                <a:spcPct val="100000"/>
              </a:lnSpc>
            </a:pP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/>
                    </a:gs>
                  </a:gsLst>
                  <a:lin ang="10800000" scaled="0"/>
                </a:gradFill>
                <a:latin typeface="Source Han Sans CN Bold Bold"/>
                <a:ea typeface="Source Han Sans CN Bold Bold"/>
                <a:cs typeface="Source Han Sans CN Bold Bold"/>
              </a:rPr>
              <a:t>P</a:t>
            </a: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/>
                    </a:gs>
                  </a:gsLst>
                  <a:lin ang="10800000" scaled="0"/>
                </a:gradFill>
                <a:latin typeface="Source Han Sans CN Bold Bold"/>
                <a:ea typeface="Source Han Sans CN Bold Bold"/>
                <a:cs typeface="Source Han Sans CN Bold Bold"/>
              </a:rPr>
              <a:t>art</a:t>
            </a: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10348486" y="1291391"/>
            <a:ext cx="1416028" cy="19940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6600">
                <a:ln w="12700">
                  <a:noFill/>
                </a:ln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1"/>
                    </a:gs>
                  </a:gsLst>
                  <a:lin ang="10800000" scaled="0"/>
                </a:gradFill>
                <a:latin typeface="Source Han Sans CN Bold Bold"/>
                <a:ea typeface="Source Han Sans CN Bold Bold"/>
                <a:cs typeface="Source Han Sans CN Bold Bold"/>
              </a:rPr>
              <a:t>04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18002" y="6541477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18002" y="6697165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510732" y="1990142"/>
            <a:ext cx="307908" cy="307908"/>
          </a:xfrm>
          <a:custGeom>
            <a:avLst/>
            <a:gdLst>
              <a:gd name="connsiteX0" fmla="*/ 413697 w 827392"/>
              <a:gd name="connsiteY0" fmla="*/ 0 h 827392"/>
              <a:gd name="connsiteX1" fmla="*/ 0 w 827392"/>
              <a:gd name="connsiteY1" fmla="*/ 413696 h 827392"/>
              <a:gd name="connsiteX2" fmla="*/ 413697 w 827392"/>
              <a:gd name="connsiteY2" fmla="*/ 827393 h 827392"/>
              <a:gd name="connsiteX3" fmla="*/ 827393 w 827392"/>
              <a:gd name="connsiteY3" fmla="*/ 413696 h 827392"/>
              <a:gd name="connsiteX4" fmla="*/ 413697 w 827392"/>
              <a:gd name="connsiteY4" fmla="*/ 0 h 827392"/>
            </a:gdLst>
            <a:ahLst/>
            <a:cxnLst/>
            <a:rect l="l" t="t" r="r" b="b"/>
            <a:pathLst>
              <a:path w="827392" h="827392">
                <a:moveTo>
                  <a:pt x="413697" y="0"/>
                </a:moveTo>
                <a:cubicBezTo>
                  <a:pt x="185196" y="0"/>
                  <a:pt x="0" y="185217"/>
                  <a:pt x="0" y="413696"/>
                </a:cubicBezTo>
                <a:cubicBezTo>
                  <a:pt x="0" y="642176"/>
                  <a:pt x="185196" y="827393"/>
                  <a:pt x="413697" y="827393"/>
                </a:cubicBezTo>
                <a:cubicBezTo>
                  <a:pt x="642197" y="827393"/>
                  <a:pt x="827393" y="642176"/>
                  <a:pt x="827393" y="413696"/>
                </a:cubicBezTo>
                <a:cubicBezTo>
                  <a:pt x="827393" y="185217"/>
                  <a:pt x="642197" y="0"/>
                  <a:pt x="413697" y="0"/>
                </a:cubicBezTo>
                <a:close/>
              </a:path>
            </a:pathLst>
          </a:custGeom>
          <a:solidFill>
            <a:schemeClr val="accent1"/>
          </a:solidFill>
          <a:ln w="522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6" name="标题 1"/>
          <p:cNvCxnSpPr/>
          <p:nvPr/>
        </p:nvCxnSpPr>
        <p:spPr>
          <a:xfrm>
            <a:off x="1595236" y="2998028"/>
            <a:ext cx="8361563" cy="0"/>
          </a:xfrm>
          <a:prstGeom prst="line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/>
          </a:ln>
        </p:spPr>
      </p:cxnSp>
      <p:sp>
        <p:nvSpPr>
          <p:cNvPr id="7" name="标题 1"/>
          <p:cNvSpPr txBox="1"/>
          <p:nvPr/>
        </p:nvSpPr>
        <p:spPr>
          <a:xfrm>
            <a:off x="1510732" y="3463342"/>
            <a:ext cx="307908" cy="307908"/>
          </a:xfrm>
          <a:custGeom>
            <a:avLst/>
            <a:gdLst>
              <a:gd name="connsiteX0" fmla="*/ 413697 w 827392"/>
              <a:gd name="connsiteY0" fmla="*/ 0 h 827392"/>
              <a:gd name="connsiteX1" fmla="*/ 0 w 827392"/>
              <a:gd name="connsiteY1" fmla="*/ 413696 h 827392"/>
              <a:gd name="connsiteX2" fmla="*/ 413697 w 827392"/>
              <a:gd name="connsiteY2" fmla="*/ 827393 h 827392"/>
              <a:gd name="connsiteX3" fmla="*/ 827393 w 827392"/>
              <a:gd name="connsiteY3" fmla="*/ 413696 h 827392"/>
              <a:gd name="connsiteX4" fmla="*/ 413697 w 827392"/>
              <a:gd name="connsiteY4" fmla="*/ 0 h 827392"/>
            </a:gdLst>
            <a:ahLst/>
            <a:cxnLst/>
            <a:rect l="l" t="t" r="r" b="b"/>
            <a:pathLst>
              <a:path w="827392" h="827392">
                <a:moveTo>
                  <a:pt x="413697" y="0"/>
                </a:moveTo>
                <a:cubicBezTo>
                  <a:pt x="185196" y="0"/>
                  <a:pt x="0" y="185217"/>
                  <a:pt x="0" y="413696"/>
                </a:cubicBezTo>
                <a:cubicBezTo>
                  <a:pt x="0" y="642176"/>
                  <a:pt x="185196" y="827393"/>
                  <a:pt x="413697" y="827393"/>
                </a:cubicBezTo>
                <a:cubicBezTo>
                  <a:pt x="642197" y="827393"/>
                  <a:pt x="827393" y="642176"/>
                  <a:pt x="827393" y="413696"/>
                </a:cubicBezTo>
                <a:cubicBezTo>
                  <a:pt x="827393" y="185217"/>
                  <a:pt x="642197" y="0"/>
                  <a:pt x="413697" y="0"/>
                </a:cubicBezTo>
                <a:close/>
              </a:path>
            </a:pathLst>
          </a:custGeom>
          <a:solidFill>
            <a:schemeClr val="accent1"/>
          </a:solidFill>
          <a:ln w="522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cxnSp>
        <p:nvCxnSpPr>
          <p:cNvPr id="8" name="标题 1"/>
          <p:cNvCxnSpPr/>
          <p:nvPr/>
        </p:nvCxnSpPr>
        <p:spPr>
          <a:xfrm>
            <a:off x="1595236" y="4490278"/>
            <a:ext cx="8361563" cy="0"/>
          </a:xfrm>
          <a:prstGeom prst="line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/>
          </a:ln>
        </p:spPr>
      </p:cxnSp>
      <p:sp>
        <p:nvSpPr>
          <p:cNvPr id="9" name="标题 1"/>
          <p:cNvSpPr txBox="1"/>
          <p:nvPr/>
        </p:nvSpPr>
        <p:spPr>
          <a:xfrm>
            <a:off x="2855632" y="1855593"/>
            <a:ext cx="6996356" cy="101460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AI与NFT深度协同：AI分析用户学习数据，为NFT内容创作提供精准方向，如根据用户兴趣和学习需求生成专属NFT学习资源；NFT则为AI生成内容提供版权保护和价值体现，促进优质内容的创作与流通。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826000" y="4660900"/>
            <a:ext cx="2540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855632" y="3265293"/>
            <a:ext cx="6996356" cy="101460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ctr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拓展到更多学习领域：将AI+NFT模式应用到更多学科，如艺术、历史、哲学等，为全领域知识学习提供个性化、可追溯的学习体验，打造综合性学习平台。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725332" y="2046093"/>
            <a:ext cx="1128956" cy="58280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4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725332" y="3620893"/>
            <a:ext cx="1128956" cy="58280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4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技术融合带来的无限可能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18002" y="6541477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-18002" y="6697165"/>
            <a:ext cx="12210001" cy="16083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73100" y="1493943"/>
            <a:ext cx="5299075" cy="4316307"/>
          </a:xfrm>
          <a:prstGeom prst="roundRect">
            <a:avLst>
              <a:gd name="adj" fmla="val 6924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25854" y="2269650"/>
            <a:ext cx="4913875" cy="335897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引领语言学习新潮流：为用户提供更优质、个性化、有趣的语言学习体验，推动语言学习行业向智能化、数字化方向发展，改变传统语言学习模式。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25854" y="1543050"/>
            <a:ext cx="4179118" cy="68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321147" y="1792056"/>
            <a:ext cx="278484" cy="301665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205538" y="1493943"/>
            <a:ext cx="5299075" cy="4316307"/>
          </a:xfrm>
          <a:prstGeom prst="roundRect">
            <a:avLst>
              <a:gd name="adj" fmla="val 582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190500" algn="ctr" rotWithShape="0">
              <a:schemeClr val="accent1">
                <a:lumMod val="75000"/>
                <a:alpha val="8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flipV="1">
            <a:off x="6276069" y="5764531"/>
            <a:ext cx="5158012" cy="45719"/>
          </a:xfrm>
          <a:custGeom>
            <a:avLst/>
            <a:gdLst>
              <a:gd name="connsiteX0" fmla="*/ 0 w 5158012"/>
              <a:gd name="connsiteY0" fmla="*/ 45719 h 45719"/>
              <a:gd name="connsiteX1" fmla="*/ 5153535 w 5158012"/>
              <a:gd name="connsiteY1" fmla="*/ 45719 h 45719"/>
              <a:gd name="connsiteX2" fmla="*/ 5158012 w 5158012"/>
              <a:gd name="connsiteY2" fmla="*/ 41242 h 45719"/>
              <a:gd name="connsiteX3" fmla="*/ 5158012 w 5158012"/>
              <a:gd name="connsiteY3" fmla="*/ 36103 h 45719"/>
              <a:gd name="connsiteX4" fmla="*/ 5125492 w 5158012"/>
              <a:gd name="connsiteY4" fmla="*/ 14177 h 45719"/>
              <a:gd name="connsiteX5" fmla="*/ 5055271 w 5158012"/>
              <a:gd name="connsiteY5" fmla="*/ 0 h 45719"/>
              <a:gd name="connsiteX6" fmla="*/ 117004 w 5158012"/>
              <a:gd name="connsiteY6" fmla="*/ 0 h 45719"/>
              <a:gd name="connsiteX7" fmla="*/ 46783 w 5158012"/>
              <a:gd name="connsiteY7" fmla="*/ 14177 h 45719"/>
            </a:gdLst>
            <a:ahLst/>
            <a:cxnLst/>
            <a:rect l="l" t="t" r="r" b="b"/>
            <a:pathLst>
              <a:path w="5158012" h="45719">
                <a:moveTo>
                  <a:pt x="0" y="45719"/>
                </a:moveTo>
                <a:lnTo>
                  <a:pt x="5153535" y="45719"/>
                </a:lnTo>
                <a:cubicBezTo>
                  <a:pt x="5156008" y="45719"/>
                  <a:pt x="5158012" y="43715"/>
                  <a:pt x="5158012" y="41242"/>
                </a:cubicBezTo>
                <a:lnTo>
                  <a:pt x="5158012" y="36103"/>
                </a:lnTo>
                <a:lnTo>
                  <a:pt x="5125492" y="14177"/>
                </a:lnTo>
                <a:cubicBezTo>
                  <a:pt x="5103909" y="5048"/>
                  <a:pt x="5080179" y="0"/>
                  <a:pt x="5055271" y="0"/>
                </a:cubicBezTo>
                <a:lnTo>
                  <a:pt x="117004" y="0"/>
                </a:lnTo>
                <a:cubicBezTo>
                  <a:pt x="92096" y="0"/>
                  <a:pt x="68366" y="5048"/>
                  <a:pt x="46783" y="14177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  <a:effectLst>
            <a:outerShdw blurRad="190500" sx="105000" sy="105000" algn="ctr" rotWithShape="0">
              <a:schemeClr val="accent2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857614" y="1792056"/>
            <a:ext cx="311722" cy="301665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520205" y="2266950"/>
            <a:ext cx="4913875" cy="329564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推动教育行业变革：为教育行业提供新的思路和模式，促进教育资源公平分配、提升教育质量和效率，助力终身学习社会的构建。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520205" y="1543050"/>
            <a:ext cx="4179118" cy="68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792557" y="505118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对语言学习及教育行业的深远影响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0" y="481013"/>
            <a:ext cx="499353" cy="54768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709285" y="0"/>
            <a:ext cx="3227882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15240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45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0" y="5171142"/>
            <a:ext cx="4632705" cy="1686859"/>
          </a:xfrm>
          <a:custGeom>
            <a:avLst/>
            <a:gdLst>
              <a:gd name="connsiteX0" fmla="*/ 0 w 4632705"/>
              <a:gd name="connsiteY0" fmla="*/ 0 h 1686859"/>
              <a:gd name="connsiteX1" fmla="*/ 4632705 w 4632705"/>
              <a:gd name="connsiteY1" fmla="*/ 0 h 1686859"/>
              <a:gd name="connsiteX2" fmla="*/ 4632705 w 4632705"/>
              <a:gd name="connsiteY2" fmla="*/ 1686859 h 1686859"/>
              <a:gd name="connsiteX3" fmla="*/ 0 w 4632705"/>
              <a:gd name="connsiteY3" fmla="*/ 1686859 h 1686859"/>
            </a:gdLst>
            <a:ahLst/>
            <a:cxnLst/>
            <a:rect l="l" t="t" r="r" b="b"/>
            <a:pathLst>
              <a:path w="4632705" h="1686859">
                <a:moveTo>
                  <a:pt x="0" y="0"/>
                </a:moveTo>
                <a:lnTo>
                  <a:pt x="4632705" y="0"/>
                </a:lnTo>
                <a:lnTo>
                  <a:pt x="4632705" y="1686859"/>
                </a:lnTo>
                <a:lnTo>
                  <a:pt x="0" y="168685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-170401" y="-10900"/>
            <a:ext cx="6883735" cy="4595094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964118" y="0"/>
            <a:ext cx="3227882" cy="6858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2"/>
              </a:gs>
            </a:gsLst>
            <a:lin ang="90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298575" y="3360956"/>
            <a:ext cx="6883735" cy="3497045"/>
          </a:xfrm>
          <a:custGeom>
            <a:avLst/>
            <a:gdLst>
              <a:gd name="connsiteX0" fmla="*/ 0 w 6883735"/>
              <a:gd name="connsiteY0" fmla="*/ 0 h 3497045"/>
              <a:gd name="connsiteX1" fmla="*/ 6883735 w 6883735"/>
              <a:gd name="connsiteY1" fmla="*/ 0 h 3497045"/>
              <a:gd name="connsiteX2" fmla="*/ 6883735 w 6883735"/>
              <a:gd name="connsiteY2" fmla="*/ 3497045 h 3497045"/>
              <a:gd name="connsiteX3" fmla="*/ 0 w 6883735"/>
              <a:gd name="connsiteY3" fmla="*/ 3497045 h 3497045"/>
            </a:gdLst>
            <a:ahLst/>
            <a:cxnLst/>
            <a:rect l="l" t="t" r="r" b="b"/>
            <a:pathLst>
              <a:path w="6883735" h="3497045">
                <a:moveTo>
                  <a:pt x="0" y="0"/>
                </a:moveTo>
                <a:lnTo>
                  <a:pt x="6883735" y="0"/>
                </a:lnTo>
                <a:lnTo>
                  <a:pt x="6883735" y="3497045"/>
                </a:lnTo>
                <a:lnTo>
                  <a:pt x="0" y="349704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929761" y="0"/>
            <a:ext cx="5262240" cy="1457211"/>
          </a:xfrm>
          <a:custGeom>
            <a:avLst/>
            <a:gdLst>
              <a:gd name="connsiteX0" fmla="*/ 0 w 4629883"/>
              <a:gd name="connsiteY0" fmla="*/ 0 h 1282100"/>
              <a:gd name="connsiteX1" fmla="*/ 4629883 w 4629883"/>
              <a:gd name="connsiteY1" fmla="*/ 0 h 1282100"/>
              <a:gd name="connsiteX2" fmla="*/ 4629883 w 4629883"/>
              <a:gd name="connsiteY2" fmla="*/ 1282100 h 1282100"/>
              <a:gd name="connsiteX3" fmla="*/ 0 w 4629883"/>
              <a:gd name="connsiteY3" fmla="*/ 1282100 h 1282100"/>
            </a:gdLst>
            <a:ahLst/>
            <a:cxnLst/>
            <a:rect l="l" t="t" r="r" b="b"/>
            <a:pathLst>
              <a:path w="4629883" h="1282100">
                <a:moveTo>
                  <a:pt x="0" y="0"/>
                </a:moveTo>
                <a:lnTo>
                  <a:pt x="4629883" y="0"/>
                </a:lnTo>
                <a:lnTo>
                  <a:pt x="4629883" y="1282100"/>
                </a:lnTo>
                <a:lnTo>
                  <a:pt x="0" y="12821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549863" y="1731645"/>
            <a:ext cx="4822206" cy="389018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608748" y="758002"/>
            <a:ext cx="2155767" cy="20020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9608748" y="758002"/>
            <a:ext cx="2155767" cy="389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608748" y="1539465"/>
            <a:ext cx="2155767" cy="12205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620510" y="5179204"/>
            <a:ext cx="1290650" cy="846842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alphaModFix amt="100000"/>
          </a:blip>
          <a:srcRect l="6325" r="6325"/>
          <a:stretch>
            <a:fillRect/>
          </a:stretch>
        </p:blipFill>
        <p:spPr>
          <a:xfrm>
            <a:off x="7110167" y="1954517"/>
            <a:ext cx="4134452" cy="356524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标题 1"/>
          <p:cNvSpPr txBox="1"/>
          <p:nvPr/>
        </p:nvSpPr>
        <p:spPr>
          <a:xfrm rot="5400000">
            <a:off x="10939814" y="5129949"/>
            <a:ext cx="540562" cy="937497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77856" y="2850666"/>
            <a:ext cx="5335666" cy="11705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54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39756" y="2255923"/>
            <a:ext cx="5590498" cy="16894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7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 Bold"/>
                <a:ea typeface="Source Han Sans CN Bold Bold"/>
                <a:cs typeface="Source Han Sans CN Bold Bold"/>
              </a:rPr>
              <a:t>谢谢大家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77856" y="4068089"/>
            <a:ext cx="1507868" cy="1615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dist">
              <a:lnSpc>
                <a:spcPct val="10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808080">
                    <a:alpha val="25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PowerPoint design</a:t>
            </a:r>
            <a:endParaRPr kumimoji="1" lang="zh-CN" altLang="en-US"/>
          </a:p>
        </p:txBody>
      </p:sp>
      <p:cxnSp>
        <p:nvCxnSpPr>
          <p:cNvPr id="19" name="标题 1"/>
          <p:cNvCxnSpPr/>
          <p:nvPr/>
        </p:nvCxnSpPr>
        <p:spPr>
          <a:xfrm>
            <a:off x="2108118" y="4156863"/>
            <a:ext cx="1996525" cy="0"/>
          </a:xfrm>
          <a:prstGeom prst="line">
            <a:avLst/>
          </a:prstGeom>
          <a:noFill/>
          <a:ln w="6350" cap="sq">
            <a:solidFill>
              <a:schemeClr val="bg1">
                <a:lumMod val="75000"/>
              </a:schemeClr>
            </a:solidFill>
            <a:prstDash val="solid"/>
            <a:miter/>
          </a:ln>
        </p:spPr>
      </p:cxnSp>
      <p:sp>
        <p:nvSpPr>
          <p:cNvPr id="20" name="标题 1"/>
          <p:cNvSpPr txBox="1"/>
          <p:nvPr/>
        </p:nvSpPr>
        <p:spPr>
          <a:xfrm>
            <a:off x="477856" y="4621050"/>
            <a:ext cx="2187575" cy="405966"/>
          </a:xfrm>
          <a:prstGeom prst="round2DiagRect">
            <a:avLst>
              <a:gd name="adj1" fmla="val 38943"/>
              <a:gd name="adj2" fmla="val 0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sq">
            <a:solidFill>
              <a:schemeClr val="bg1"/>
            </a:solidFill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158524" y="4708781"/>
            <a:ext cx="1600234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主讲人：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624823" y="4550311"/>
            <a:ext cx="386718" cy="386718"/>
          </a:xfrm>
          <a:prstGeom prst="ellipse">
            <a:avLst/>
          </a:prstGeom>
          <a:solidFill>
            <a:schemeClr val="bg1"/>
          </a:solidFill>
          <a:ln w="11430" cap="sq">
            <a:gradFill>
              <a:gsLst>
                <a:gs pos="0">
                  <a:schemeClr val="accent2">
                    <a:lumMod val="50000"/>
                    <a:lumOff val="50000"/>
                  </a:schemeClr>
                </a:gs>
                <a:gs pos="100000">
                  <a:schemeClr val="accent2">
                    <a:lumMod val="50000"/>
                    <a:lumOff val="50000"/>
                    <a:alpha val="20000"/>
                  </a:schemeClr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715608" y="4623362"/>
            <a:ext cx="205146" cy="222224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2700000" scaled="0"/>
          </a:gradFill>
          <a:ln w="9525" cap="sq">
            <a:solidFill>
              <a:schemeClr val="bg1"/>
            </a:solidFill>
            <a:miter/>
          </a:ln>
          <a:effectLst>
            <a:outerShdw blurRad="50800" dist="38100" dir="2700000" algn="tl" rotWithShape="0">
              <a:schemeClr val="accent2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2998555" y="4621050"/>
            <a:ext cx="2187575" cy="405966"/>
          </a:xfrm>
          <a:prstGeom prst="round2DiagRect">
            <a:avLst>
              <a:gd name="adj1" fmla="val 38943"/>
              <a:gd name="adj2" fmla="val 0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sq">
            <a:solidFill>
              <a:schemeClr val="bg1">
                <a:alpha val="100000"/>
              </a:schemeClr>
            </a:solidFill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3684303" y="4708781"/>
            <a:ext cx="1600234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时间：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3145522" y="4550311"/>
            <a:ext cx="386718" cy="386718"/>
          </a:xfrm>
          <a:prstGeom prst="ellipse">
            <a:avLst/>
          </a:prstGeom>
          <a:solidFill>
            <a:schemeClr val="bg1"/>
          </a:solidFill>
          <a:ln w="11430" cap="sq">
            <a:gradFill>
              <a:gsLst>
                <a:gs pos="0">
                  <a:schemeClr val="accent2">
                    <a:lumMod val="50000"/>
                    <a:lumOff val="50000"/>
                  </a:schemeClr>
                </a:gs>
                <a:gs pos="100000">
                  <a:schemeClr val="accent2">
                    <a:lumMod val="50000"/>
                    <a:lumOff val="50000"/>
                    <a:alpha val="20000"/>
                  </a:schemeClr>
                </a:gs>
              </a:gsLst>
              <a:lin ang="5400000" scaled="0"/>
            </a:gradFill>
            <a:miter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3236307" y="4623362"/>
            <a:ext cx="205146" cy="222224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2700000" scaled="0"/>
          </a:gradFill>
          <a:ln w="9525" cap="sq">
            <a:solidFill>
              <a:schemeClr val="bg1"/>
            </a:solidFill>
            <a:miter/>
          </a:ln>
          <a:effectLst>
            <a:outerShdw blurRad="50800" dist="38100" dir="2700000" algn="tl" rotWithShape="0">
              <a:schemeClr val="accent2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888507" y="4708781"/>
            <a:ext cx="841783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AiPPT</a:t>
            </a: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4283657" y="4708781"/>
            <a:ext cx="841783" cy="2305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Normal"/>
                <a:ea typeface="Source Han Sans CN Normal"/>
                <a:cs typeface="Source Han Sans CN Normal"/>
              </a:rPr>
              <a:t>202X.X</a:t>
            </a: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 flipH="1">
            <a:off x="7552039" y="557950"/>
            <a:ext cx="540562" cy="937497"/>
          </a:xfrm>
          <a:custGeom>
            <a:avLst/>
            <a:gdLst>
              <a:gd name="connsiteX0" fmla="*/ 0 w 812409"/>
              <a:gd name="connsiteY0" fmla="*/ 1532499 h 1564151"/>
              <a:gd name="connsiteX1" fmla="*/ 31653 w 812409"/>
              <a:gd name="connsiteY1" fmla="*/ 1564151 h 1564151"/>
              <a:gd name="connsiteX2" fmla="*/ 63304 w 812409"/>
              <a:gd name="connsiteY2" fmla="*/ 1532499 h 1564151"/>
              <a:gd name="connsiteX3" fmla="*/ 31653 w 812409"/>
              <a:gd name="connsiteY3" fmla="*/ 1500847 h 1564151"/>
              <a:gd name="connsiteX4" fmla="*/ 0 w 812409"/>
              <a:gd name="connsiteY4" fmla="*/ 1532499 h 1564151"/>
              <a:gd name="connsiteX5" fmla="*/ 187276 w 812409"/>
              <a:gd name="connsiteY5" fmla="*/ 1532499 h 1564151"/>
              <a:gd name="connsiteX6" fmla="*/ 218929 w 812409"/>
              <a:gd name="connsiteY6" fmla="*/ 1564151 h 1564151"/>
              <a:gd name="connsiteX7" fmla="*/ 250581 w 812409"/>
              <a:gd name="connsiteY7" fmla="*/ 1532499 h 1564151"/>
              <a:gd name="connsiteX8" fmla="*/ 218929 w 812409"/>
              <a:gd name="connsiteY8" fmla="*/ 1500847 h 1564151"/>
              <a:gd name="connsiteX9" fmla="*/ 187276 w 812409"/>
              <a:gd name="connsiteY9" fmla="*/ 1532499 h 1564151"/>
              <a:gd name="connsiteX10" fmla="*/ 374553 w 812409"/>
              <a:gd name="connsiteY10" fmla="*/ 1532499 h 1564151"/>
              <a:gd name="connsiteX11" fmla="*/ 406204 w 812409"/>
              <a:gd name="connsiteY11" fmla="*/ 1564151 h 1564151"/>
              <a:gd name="connsiteX12" fmla="*/ 437857 w 812409"/>
              <a:gd name="connsiteY12" fmla="*/ 1532499 h 1564151"/>
              <a:gd name="connsiteX13" fmla="*/ 406204 w 812409"/>
              <a:gd name="connsiteY13" fmla="*/ 1500847 h 1564151"/>
              <a:gd name="connsiteX14" fmla="*/ 374553 w 812409"/>
              <a:gd name="connsiteY14" fmla="*/ 1532499 h 1564151"/>
              <a:gd name="connsiteX15" fmla="*/ 561829 w 812409"/>
              <a:gd name="connsiteY15" fmla="*/ 1532499 h 1564151"/>
              <a:gd name="connsiteX16" fmla="*/ 593481 w 812409"/>
              <a:gd name="connsiteY16" fmla="*/ 1564151 h 1564151"/>
              <a:gd name="connsiteX17" fmla="*/ 625133 w 812409"/>
              <a:gd name="connsiteY17" fmla="*/ 1532499 h 1564151"/>
              <a:gd name="connsiteX18" fmla="*/ 593481 w 812409"/>
              <a:gd name="connsiteY18" fmla="*/ 1500847 h 1564151"/>
              <a:gd name="connsiteX19" fmla="*/ 561829 w 812409"/>
              <a:gd name="connsiteY19" fmla="*/ 1532499 h 1564151"/>
              <a:gd name="connsiteX20" fmla="*/ 749104 w 812409"/>
              <a:gd name="connsiteY20" fmla="*/ 1532499 h 1564151"/>
              <a:gd name="connsiteX21" fmla="*/ 780757 w 812409"/>
              <a:gd name="connsiteY21" fmla="*/ 1564151 h 1564151"/>
              <a:gd name="connsiteX22" fmla="*/ 812410 w 812409"/>
              <a:gd name="connsiteY22" fmla="*/ 1532499 h 1564151"/>
              <a:gd name="connsiteX23" fmla="*/ 780757 w 812409"/>
              <a:gd name="connsiteY23" fmla="*/ 1500847 h 1564151"/>
              <a:gd name="connsiteX24" fmla="*/ 749104 w 812409"/>
              <a:gd name="connsiteY24" fmla="*/ 1532499 h 1564151"/>
              <a:gd name="connsiteX25" fmla="*/ 187276 w 812409"/>
              <a:gd name="connsiteY25" fmla="*/ 1345223 h 1564151"/>
              <a:gd name="connsiteX26" fmla="*/ 218929 w 812409"/>
              <a:gd name="connsiteY26" fmla="*/ 1376875 h 1564151"/>
              <a:gd name="connsiteX27" fmla="*/ 250581 w 812409"/>
              <a:gd name="connsiteY27" fmla="*/ 1345223 h 1564151"/>
              <a:gd name="connsiteX28" fmla="*/ 218929 w 812409"/>
              <a:gd name="connsiteY28" fmla="*/ 1313571 h 1564151"/>
              <a:gd name="connsiteX29" fmla="*/ 187276 w 812409"/>
              <a:gd name="connsiteY29" fmla="*/ 1345223 h 1564151"/>
              <a:gd name="connsiteX30" fmla="*/ 374553 w 812409"/>
              <a:gd name="connsiteY30" fmla="*/ 1345223 h 1564151"/>
              <a:gd name="connsiteX31" fmla="*/ 406204 w 812409"/>
              <a:gd name="connsiteY31" fmla="*/ 1376875 h 1564151"/>
              <a:gd name="connsiteX32" fmla="*/ 437857 w 812409"/>
              <a:gd name="connsiteY32" fmla="*/ 1345223 h 1564151"/>
              <a:gd name="connsiteX33" fmla="*/ 406204 w 812409"/>
              <a:gd name="connsiteY33" fmla="*/ 1313571 h 1564151"/>
              <a:gd name="connsiteX34" fmla="*/ 374553 w 812409"/>
              <a:gd name="connsiteY34" fmla="*/ 1345223 h 1564151"/>
              <a:gd name="connsiteX35" fmla="*/ 561829 w 812409"/>
              <a:gd name="connsiteY35" fmla="*/ 1345223 h 1564151"/>
              <a:gd name="connsiteX36" fmla="*/ 593481 w 812409"/>
              <a:gd name="connsiteY36" fmla="*/ 1376875 h 1564151"/>
              <a:gd name="connsiteX37" fmla="*/ 625133 w 812409"/>
              <a:gd name="connsiteY37" fmla="*/ 1345223 h 1564151"/>
              <a:gd name="connsiteX38" fmla="*/ 593481 w 812409"/>
              <a:gd name="connsiteY38" fmla="*/ 1313571 h 1564151"/>
              <a:gd name="connsiteX39" fmla="*/ 561829 w 812409"/>
              <a:gd name="connsiteY39" fmla="*/ 1345223 h 1564151"/>
              <a:gd name="connsiteX40" fmla="*/ 749104 w 812409"/>
              <a:gd name="connsiteY40" fmla="*/ 1345223 h 1564151"/>
              <a:gd name="connsiteX41" fmla="*/ 780757 w 812409"/>
              <a:gd name="connsiteY41" fmla="*/ 1376875 h 1564151"/>
              <a:gd name="connsiteX42" fmla="*/ 812410 w 812409"/>
              <a:gd name="connsiteY42" fmla="*/ 1345223 h 1564151"/>
              <a:gd name="connsiteX43" fmla="*/ 780757 w 812409"/>
              <a:gd name="connsiteY43" fmla="*/ 1313571 h 1564151"/>
              <a:gd name="connsiteX44" fmla="*/ 749104 w 812409"/>
              <a:gd name="connsiteY44" fmla="*/ 1345223 h 1564151"/>
              <a:gd name="connsiteX45" fmla="*/ 187276 w 812409"/>
              <a:gd name="connsiteY45" fmla="*/ 1157947 h 1564151"/>
              <a:gd name="connsiteX46" fmla="*/ 218929 w 812409"/>
              <a:gd name="connsiteY46" fmla="*/ 1189599 h 1564151"/>
              <a:gd name="connsiteX47" fmla="*/ 250581 w 812409"/>
              <a:gd name="connsiteY47" fmla="*/ 1157947 h 1564151"/>
              <a:gd name="connsiteX48" fmla="*/ 218929 w 812409"/>
              <a:gd name="connsiteY48" fmla="*/ 1126295 h 1564151"/>
              <a:gd name="connsiteX49" fmla="*/ 187276 w 812409"/>
              <a:gd name="connsiteY49" fmla="*/ 1157947 h 1564151"/>
              <a:gd name="connsiteX50" fmla="*/ 374553 w 812409"/>
              <a:gd name="connsiteY50" fmla="*/ 1157947 h 1564151"/>
              <a:gd name="connsiteX51" fmla="*/ 406204 w 812409"/>
              <a:gd name="connsiteY51" fmla="*/ 1189599 h 1564151"/>
              <a:gd name="connsiteX52" fmla="*/ 437857 w 812409"/>
              <a:gd name="connsiteY52" fmla="*/ 1157947 h 1564151"/>
              <a:gd name="connsiteX53" fmla="*/ 406204 w 812409"/>
              <a:gd name="connsiteY53" fmla="*/ 1126295 h 1564151"/>
              <a:gd name="connsiteX54" fmla="*/ 374553 w 812409"/>
              <a:gd name="connsiteY54" fmla="*/ 1157947 h 1564151"/>
              <a:gd name="connsiteX55" fmla="*/ 561829 w 812409"/>
              <a:gd name="connsiteY55" fmla="*/ 1157947 h 1564151"/>
              <a:gd name="connsiteX56" fmla="*/ 593481 w 812409"/>
              <a:gd name="connsiteY56" fmla="*/ 1189599 h 1564151"/>
              <a:gd name="connsiteX57" fmla="*/ 625133 w 812409"/>
              <a:gd name="connsiteY57" fmla="*/ 1157947 h 1564151"/>
              <a:gd name="connsiteX58" fmla="*/ 593481 w 812409"/>
              <a:gd name="connsiteY58" fmla="*/ 1126295 h 1564151"/>
              <a:gd name="connsiteX59" fmla="*/ 561829 w 812409"/>
              <a:gd name="connsiteY59" fmla="*/ 1157947 h 1564151"/>
              <a:gd name="connsiteX60" fmla="*/ 749104 w 812409"/>
              <a:gd name="connsiteY60" fmla="*/ 1157947 h 1564151"/>
              <a:gd name="connsiteX61" fmla="*/ 780757 w 812409"/>
              <a:gd name="connsiteY61" fmla="*/ 1189599 h 1564151"/>
              <a:gd name="connsiteX62" fmla="*/ 812410 w 812409"/>
              <a:gd name="connsiteY62" fmla="*/ 1157947 h 1564151"/>
              <a:gd name="connsiteX63" fmla="*/ 780757 w 812409"/>
              <a:gd name="connsiteY63" fmla="*/ 1126295 h 1564151"/>
              <a:gd name="connsiteX64" fmla="*/ 749104 w 812409"/>
              <a:gd name="connsiteY64" fmla="*/ 1157947 h 1564151"/>
              <a:gd name="connsiteX65" fmla="*/ 187276 w 812409"/>
              <a:gd name="connsiteY65" fmla="*/ 970670 h 1564151"/>
              <a:gd name="connsiteX66" fmla="*/ 218929 w 812409"/>
              <a:gd name="connsiteY66" fmla="*/ 1002323 h 1564151"/>
              <a:gd name="connsiteX67" fmla="*/ 250581 w 812409"/>
              <a:gd name="connsiteY67" fmla="*/ 970670 h 1564151"/>
              <a:gd name="connsiteX68" fmla="*/ 218929 w 812409"/>
              <a:gd name="connsiteY68" fmla="*/ 939018 h 1564151"/>
              <a:gd name="connsiteX69" fmla="*/ 187276 w 812409"/>
              <a:gd name="connsiteY69" fmla="*/ 970670 h 1564151"/>
              <a:gd name="connsiteX70" fmla="*/ 374553 w 812409"/>
              <a:gd name="connsiteY70" fmla="*/ 970670 h 1564151"/>
              <a:gd name="connsiteX71" fmla="*/ 406204 w 812409"/>
              <a:gd name="connsiteY71" fmla="*/ 1002323 h 1564151"/>
              <a:gd name="connsiteX72" fmla="*/ 437857 w 812409"/>
              <a:gd name="connsiteY72" fmla="*/ 970670 h 1564151"/>
              <a:gd name="connsiteX73" fmla="*/ 406204 w 812409"/>
              <a:gd name="connsiteY73" fmla="*/ 939018 h 1564151"/>
              <a:gd name="connsiteX74" fmla="*/ 374553 w 812409"/>
              <a:gd name="connsiteY74" fmla="*/ 970670 h 1564151"/>
              <a:gd name="connsiteX75" fmla="*/ 561829 w 812409"/>
              <a:gd name="connsiteY75" fmla="*/ 970670 h 1564151"/>
              <a:gd name="connsiteX76" fmla="*/ 593481 w 812409"/>
              <a:gd name="connsiteY76" fmla="*/ 1002323 h 1564151"/>
              <a:gd name="connsiteX77" fmla="*/ 625133 w 812409"/>
              <a:gd name="connsiteY77" fmla="*/ 970670 h 1564151"/>
              <a:gd name="connsiteX78" fmla="*/ 593481 w 812409"/>
              <a:gd name="connsiteY78" fmla="*/ 939018 h 1564151"/>
              <a:gd name="connsiteX79" fmla="*/ 561829 w 812409"/>
              <a:gd name="connsiteY79" fmla="*/ 970670 h 1564151"/>
              <a:gd name="connsiteX80" fmla="*/ 749104 w 812409"/>
              <a:gd name="connsiteY80" fmla="*/ 970670 h 1564151"/>
              <a:gd name="connsiteX81" fmla="*/ 780757 w 812409"/>
              <a:gd name="connsiteY81" fmla="*/ 1002323 h 1564151"/>
              <a:gd name="connsiteX82" fmla="*/ 812410 w 812409"/>
              <a:gd name="connsiteY82" fmla="*/ 970670 h 1564151"/>
              <a:gd name="connsiteX83" fmla="*/ 780757 w 812409"/>
              <a:gd name="connsiteY83" fmla="*/ 939018 h 1564151"/>
              <a:gd name="connsiteX84" fmla="*/ 749104 w 812409"/>
              <a:gd name="connsiteY84" fmla="*/ 970670 h 1564151"/>
              <a:gd name="connsiteX85" fmla="*/ 187276 w 812409"/>
              <a:gd name="connsiteY85" fmla="*/ 783395 h 1564151"/>
              <a:gd name="connsiteX86" fmla="*/ 218929 w 812409"/>
              <a:gd name="connsiteY86" fmla="*/ 815047 h 1564151"/>
              <a:gd name="connsiteX87" fmla="*/ 250581 w 812409"/>
              <a:gd name="connsiteY87" fmla="*/ 783395 h 1564151"/>
              <a:gd name="connsiteX88" fmla="*/ 218929 w 812409"/>
              <a:gd name="connsiteY88" fmla="*/ 751742 h 1564151"/>
              <a:gd name="connsiteX89" fmla="*/ 187276 w 812409"/>
              <a:gd name="connsiteY89" fmla="*/ 783395 h 1564151"/>
              <a:gd name="connsiteX90" fmla="*/ 374553 w 812409"/>
              <a:gd name="connsiteY90" fmla="*/ 783395 h 1564151"/>
              <a:gd name="connsiteX91" fmla="*/ 406204 w 812409"/>
              <a:gd name="connsiteY91" fmla="*/ 815047 h 1564151"/>
              <a:gd name="connsiteX92" fmla="*/ 437857 w 812409"/>
              <a:gd name="connsiteY92" fmla="*/ 783395 h 1564151"/>
              <a:gd name="connsiteX93" fmla="*/ 406204 w 812409"/>
              <a:gd name="connsiteY93" fmla="*/ 751742 h 1564151"/>
              <a:gd name="connsiteX94" fmla="*/ 374553 w 812409"/>
              <a:gd name="connsiteY94" fmla="*/ 783395 h 1564151"/>
              <a:gd name="connsiteX95" fmla="*/ 561829 w 812409"/>
              <a:gd name="connsiteY95" fmla="*/ 783395 h 1564151"/>
              <a:gd name="connsiteX96" fmla="*/ 593481 w 812409"/>
              <a:gd name="connsiteY96" fmla="*/ 815047 h 1564151"/>
              <a:gd name="connsiteX97" fmla="*/ 625133 w 812409"/>
              <a:gd name="connsiteY97" fmla="*/ 783395 h 1564151"/>
              <a:gd name="connsiteX98" fmla="*/ 593481 w 812409"/>
              <a:gd name="connsiteY98" fmla="*/ 751742 h 1564151"/>
              <a:gd name="connsiteX99" fmla="*/ 561829 w 812409"/>
              <a:gd name="connsiteY99" fmla="*/ 783395 h 1564151"/>
              <a:gd name="connsiteX100" fmla="*/ 749104 w 812409"/>
              <a:gd name="connsiteY100" fmla="*/ 783395 h 1564151"/>
              <a:gd name="connsiteX101" fmla="*/ 780757 w 812409"/>
              <a:gd name="connsiteY101" fmla="*/ 815047 h 1564151"/>
              <a:gd name="connsiteX102" fmla="*/ 812410 w 812409"/>
              <a:gd name="connsiteY102" fmla="*/ 783395 h 1564151"/>
              <a:gd name="connsiteX103" fmla="*/ 780757 w 812409"/>
              <a:gd name="connsiteY103" fmla="*/ 751742 h 1564151"/>
              <a:gd name="connsiteX104" fmla="*/ 749104 w 812409"/>
              <a:gd name="connsiteY104" fmla="*/ 783395 h 1564151"/>
              <a:gd name="connsiteX105" fmla="*/ 187276 w 812409"/>
              <a:gd name="connsiteY105" fmla="*/ 596118 h 1564151"/>
              <a:gd name="connsiteX106" fmla="*/ 218929 w 812409"/>
              <a:gd name="connsiteY106" fmla="*/ 627770 h 1564151"/>
              <a:gd name="connsiteX107" fmla="*/ 250581 w 812409"/>
              <a:gd name="connsiteY107" fmla="*/ 596118 h 1564151"/>
              <a:gd name="connsiteX108" fmla="*/ 218929 w 812409"/>
              <a:gd name="connsiteY108" fmla="*/ 564466 h 1564151"/>
              <a:gd name="connsiteX109" fmla="*/ 187276 w 812409"/>
              <a:gd name="connsiteY109" fmla="*/ 596118 h 1564151"/>
              <a:gd name="connsiteX110" fmla="*/ 374553 w 812409"/>
              <a:gd name="connsiteY110" fmla="*/ 596118 h 1564151"/>
              <a:gd name="connsiteX111" fmla="*/ 406204 w 812409"/>
              <a:gd name="connsiteY111" fmla="*/ 627770 h 1564151"/>
              <a:gd name="connsiteX112" fmla="*/ 437857 w 812409"/>
              <a:gd name="connsiteY112" fmla="*/ 596118 h 1564151"/>
              <a:gd name="connsiteX113" fmla="*/ 406204 w 812409"/>
              <a:gd name="connsiteY113" fmla="*/ 564466 h 1564151"/>
              <a:gd name="connsiteX114" fmla="*/ 374553 w 812409"/>
              <a:gd name="connsiteY114" fmla="*/ 596118 h 1564151"/>
              <a:gd name="connsiteX115" fmla="*/ 561829 w 812409"/>
              <a:gd name="connsiteY115" fmla="*/ 596118 h 1564151"/>
              <a:gd name="connsiteX116" fmla="*/ 593481 w 812409"/>
              <a:gd name="connsiteY116" fmla="*/ 627770 h 1564151"/>
              <a:gd name="connsiteX117" fmla="*/ 625133 w 812409"/>
              <a:gd name="connsiteY117" fmla="*/ 596118 h 1564151"/>
              <a:gd name="connsiteX118" fmla="*/ 593481 w 812409"/>
              <a:gd name="connsiteY118" fmla="*/ 564466 h 1564151"/>
              <a:gd name="connsiteX119" fmla="*/ 561829 w 812409"/>
              <a:gd name="connsiteY119" fmla="*/ 596118 h 1564151"/>
              <a:gd name="connsiteX120" fmla="*/ 749104 w 812409"/>
              <a:gd name="connsiteY120" fmla="*/ 596118 h 1564151"/>
              <a:gd name="connsiteX121" fmla="*/ 780757 w 812409"/>
              <a:gd name="connsiteY121" fmla="*/ 627770 h 1564151"/>
              <a:gd name="connsiteX122" fmla="*/ 812410 w 812409"/>
              <a:gd name="connsiteY122" fmla="*/ 596118 h 1564151"/>
              <a:gd name="connsiteX123" fmla="*/ 780757 w 812409"/>
              <a:gd name="connsiteY123" fmla="*/ 564466 h 1564151"/>
              <a:gd name="connsiteX124" fmla="*/ 749104 w 812409"/>
              <a:gd name="connsiteY124" fmla="*/ 596118 h 1564151"/>
              <a:gd name="connsiteX125" fmla="*/ 187276 w 812409"/>
              <a:gd name="connsiteY125" fmla="*/ 408842 h 1564151"/>
              <a:gd name="connsiteX126" fmla="*/ 218929 w 812409"/>
              <a:gd name="connsiteY126" fmla="*/ 440495 h 1564151"/>
              <a:gd name="connsiteX127" fmla="*/ 250581 w 812409"/>
              <a:gd name="connsiteY127" fmla="*/ 408842 h 1564151"/>
              <a:gd name="connsiteX128" fmla="*/ 218929 w 812409"/>
              <a:gd name="connsiteY128" fmla="*/ 377190 h 1564151"/>
              <a:gd name="connsiteX129" fmla="*/ 187276 w 812409"/>
              <a:gd name="connsiteY129" fmla="*/ 408842 h 1564151"/>
              <a:gd name="connsiteX130" fmla="*/ 374553 w 812409"/>
              <a:gd name="connsiteY130" fmla="*/ 408842 h 1564151"/>
              <a:gd name="connsiteX131" fmla="*/ 406204 w 812409"/>
              <a:gd name="connsiteY131" fmla="*/ 440495 h 1564151"/>
              <a:gd name="connsiteX132" fmla="*/ 437857 w 812409"/>
              <a:gd name="connsiteY132" fmla="*/ 408842 h 1564151"/>
              <a:gd name="connsiteX133" fmla="*/ 406204 w 812409"/>
              <a:gd name="connsiteY133" fmla="*/ 377190 h 1564151"/>
              <a:gd name="connsiteX134" fmla="*/ 374553 w 812409"/>
              <a:gd name="connsiteY134" fmla="*/ 408842 h 1564151"/>
              <a:gd name="connsiteX135" fmla="*/ 561829 w 812409"/>
              <a:gd name="connsiteY135" fmla="*/ 408842 h 1564151"/>
              <a:gd name="connsiteX136" fmla="*/ 593481 w 812409"/>
              <a:gd name="connsiteY136" fmla="*/ 440495 h 1564151"/>
              <a:gd name="connsiteX137" fmla="*/ 625133 w 812409"/>
              <a:gd name="connsiteY137" fmla="*/ 408842 h 1564151"/>
              <a:gd name="connsiteX138" fmla="*/ 593481 w 812409"/>
              <a:gd name="connsiteY138" fmla="*/ 377190 h 1564151"/>
              <a:gd name="connsiteX139" fmla="*/ 561829 w 812409"/>
              <a:gd name="connsiteY139" fmla="*/ 408842 h 1564151"/>
              <a:gd name="connsiteX140" fmla="*/ 749104 w 812409"/>
              <a:gd name="connsiteY140" fmla="*/ 408842 h 1564151"/>
              <a:gd name="connsiteX141" fmla="*/ 780757 w 812409"/>
              <a:gd name="connsiteY141" fmla="*/ 440495 h 1564151"/>
              <a:gd name="connsiteX142" fmla="*/ 812410 w 812409"/>
              <a:gd name="connsiteY142" fmla="*/ 408842 h 1564151"/>
              <a:gd name="connsiteX143" fmla="*/ 780757 w 812409"/>
              <a:gd name="connsiteY143" fmla="*/ 377190 h 1564151"/>
              <a:gd name="connsiteX144" fmla="*/ 749104 w 812409"/>
              <a:gd name="connsiteY144" fmla="*/ 408842 h 1564151"/>
              <a:gd name="connsiteX145" fmla="*/ 187276 w 812409"/>
              <a:gd name="connsiteY145" fmla="*/ 218928 h 1564151"/>
              <a:gd name="connsiteX146" fmla="*/ 218929 w 812409"/>
              <a:gd name="connsiteY146" fmla="*/ 250581 h 1564151"/>
              <a:gd name="connsiteX147" fmla="*/ 250581 w 812409"/>
              <a:gd name="connsiteY147" fmla="*/ 218928 h 1564151"/>
              <a:gd name="connsiteX148" fmla="*/ 218929 w 812409"/>
              <a:gd name="connsiteY148" fmla="*/ 187276 h 1564151"/>
              <a:gd name="connsiteX149" fmla="*/ 187276 w 812409"/>
              <a:gd name="connsiteY149" fmla="*/ 218928 h 1564151"/>
              <a:gd name="connsiteX150" fmla="*/ 374553 w 812409"/>
              <a:gd name="connsiteY150" fmla="*/ 218928 h 1564151"/>
              <a:gd name="connsiteX151" fmla="*/ 406204 w 812409"/>
              <a:gd name="connsiteY151" fmla="*/ 250581 h 1564151"/>
              <a:gd name="connsiteX152" fmla="*/ 437857 w 812409"/>
              <a:gd name="connsiteY152" fmla="*/ 218928 h 1564151"/>
              <a:gd name="connsiteX153" fmla="*/ 406204 w 812409"/>
              <a:gd name="connsiteY153" fmla="*/ 187276 h 1564151"/>
              <a:gd name="connsiteX154" fmla="*/ 374553 w 812409"/>
              <a:gd name="connsiteY154" fmla="*/ 218928 h 1564151"/>
              <a:gd name="connsiteX155" fmla="*/ 561829 w 812409"/>
              <a:gd name="connsiteY155" fmla="*/ 218928 h 1564151"/>
              <a:gd name="connsiteX156" fmla="*/ 593481 w 812409"/>
              <a:gd name="connsiteY156" fmla="*/ 250581 h 1564151"/>
              <a:gd name="connsiteX157" fmla="*/ 625133 w 812409"/>
              <a:gd name="connsiteY157" fmla="*/ 218928 h 1564151"/>
              <a:gd name="connsiteX158" fmla="*/ 593481 w 812409"/>
              <a:gd name="connsiteY158" fmla="*/ 187276 h 1564151"/>
              <a:gd name="connsiteX159" fmla="*/ 561829 w 812409"/>
              <a:gd name="connsiteY159" fmla="*/ 218928 h 1564151"/>
              <a:gd name="connsiteX160" fmla="*/ 749104 w 812409"/>
              <a:gd name="connsiteY160" fmla="*/ 218928 h 1564151"/>
              <a:gd name="connsiteX161" fmla="*/ 780757 w 812409"/>
              <a:gd name="connsiteY161" fmla="*/ 250581 h 1564151"/>
              <a:gd name="connsiteX162" fmla="*/ 812410 w 812409"/>
              <a:gd name="connsiteY162" fmla="*/ 218928 h 1564151"/>
              <a:gd name="connsiteX163" fmla="*/ 780757 w 812409"/>
              <a:gd name="connsiteY163" fmla="*/ 187276 h 1564151"/>
              <a:gd name="connsiteX164" fmla="*/ 749104 w 812409"/>
              <a:gd name="connsiteY164" fmla="*/ 218928 h 1564151"/>
              <a:gd name="connsiteX165" fmla="*/ 187276 w 812409"/>
              <a:gd name="connsiteY165" fmla="*/ 31652 h 1564151"/>
              <a:gd name="connsiteX166" fmla="*/ 218929 w 812409"/>
              <a:gd name="connsiteY166" fmla="*/ 63304 h 1564151"/>
              <a:gd name="connsiteX167" fmla="*/ 250581 w 812409"/>
              <a:gd name="connsiteY167" fmla="*/ 31652 h 1564151"/>
              <a:gd name="connsiteX168" fmla="*/ 218929 w 812409"/>
              <a:gd name="connsiteY168" fmla="*/ 0 h 1564151"/>
              <a:gd name="connsiteX169" fmla="*/ 187276 w 812409"/>
              <a:gd name="connsiteY169" fmla="*/ 31652 h 1564151"/>
              <a:gd name="connsiteX170" fmla="*/ 374553 w 812409"/>
              <a:gd name="connsiteY170" fmla="*/ 31652 h 1564151"/>
              <a:gd name="connsiteX171" fmla="*/ 406204 w 812409"/>
              <a:gd name="connsiteY171" fmla="*/ 63304 h 1564151"/>
              <a:gd name="connsiteX172" fmla="*/ 437857 w 812409"/>
              <a:gd name="connsiteY172" fmla="*/ 31652 h 1564151"/>
              <a:gd name="connsiteX173" fmla="*/ 406204 w 812409"/>
              <a:gd name="connsiteY173" fmla="*/ 0 h 1564151"/>
              <a:gd name="connsiteX174" fmla="*/ 374553 w 812409"/>
              <a:gd name="connsiteY174" fmla="*/ 31652 h 1564151"/>
              <a:gd name="connsiteX175" fmla="*/ 561829 w 812409"/>
              <a:gd name="connsiteY175" fmla="*/ 31652 h 1564151"/>
              <a:gd name="connsiteX176" fmla="*/ 593481 w 812409"/>
              <a:gd name="connsiteY176" fmla="*/ 63304 h 1564151"/>
              <a:gd name="connsiteX177" fmla="*/ 625133 w 812409"/>
              <a:gd name="connsiteY177" fmla="*/ 31652 h 1564151"/>
              <a:gd name="connsiteX178" fmla="*/ 593481 w 812409"/>
              <a:gd name="connsiteY178" fmla="*/ 0 h 1564151"/>
              <a:gd name="connsiteX179" fmla="*/ 561829 w 812409"/>
              <a:gd name="connsiteY179" fmla="*/ 31652 h 1564151"/>
              <a:gd name="connsiteX180" fmla="*/ 749104 w 812409"/>
              <a:gd name="connsiteY180" fmla="*/ 31652 h 1564151"/>
              <a:gd name="connsiteX181" fmla="*/ 780757 w 812409"/>
              <a:gd name="connsiteY181" fmla="*/ 63304 h 1564151"/>
              <a:gd name="connsiteX182" fmla="*/ 812410 w 812409"/>
              <a:gd name="connsiteY182" fmla="*/ 31652 h 1564151"/>
              <a:gd name="connsiteX183" fmla="*/ 780757 w 812409"/>
              <a:gd name="connsiteY183" fmla="*/ 0 h 1564151"/>
              <a:gd name="connsiteX184" fmla="*/ 749104 w 812409"/>
              <a:gd name="connsiteY184" fmla="*/ 31652 h 1564151"/>
              <a:gd name="connsiteX185" fmla="*/ 31653 w 812409"/>
              <a:gd name="connsiteY185" fmla="*/ 1379513 h 1564151"/>
              <a:gd name="connsiteX186" fmla="*/ 63304 w 812409"/>
              <a:gd name="connsiteY186" fmla="*/ 1347861 h 1564151"/>
              <a:gd name="connsiteX187" fmla="*/ 31653 w 812409"/>
              <a:gd name="connsiteY187" fmla="*/ 1316208 h 1564151"/>
              <a:gd name="connsiteX188" fmla="*/ 0 w 812409"/>
              <a:gd name="connsiteY188" fmla="*/ 1347861 h 1564151"/>
              <a:gd name="connsiteX189" fmla="*/ 31653 w 812409"/>
              <a:gd name="connsiteY189" fmla="*/ 1379513 h 1564151"/>
              <a:gd name="connsiteX190" fmla="*/ 31653 w 812409"/>
              <a:gd name="connsiteY190" fmla="*/ 1189599 h 1564151"/>
              <a:gd name="connsiteX191" fmla="*/ 63304 w 812409"/>
              <a:gd name="connsiteY191" fmla="*/ 1157947 h 1564151"/>
              <a:gd name="connsiteX192" fmla="*/ 31653 w 812409"/>
              <a:gd name="connsiteY192" fmla="*/ 1126295 h 1564151"/>
              <a:gd name="connsiteX193" fmla="*/ 0 w 812409"/>
              <a:gd name="connsiteY193" fmla="*/ 1157947 h 1564151"/>
              <a:gd name="connsiteX194" fmla="*/ 31653 w 812409"/>
              <a:gd name="connsiteY194" fmla="*/ 1189599 h 1564151"/>
              <a:gd name="connsiteX195" fmla="*/ 31653 w 812409"/>
              <a:gd name="connsiteY195" fmla="*/ 1002323 h 1564151"/>
              <a:gd name="connsiteX196" fmla="*/ 63304 w 812409"/>
              <a:gd name="connsiteY196" fmla="*/ 970670 h 1564151"/>
              <a:gd name="connsiteX197" fmla="*/ 31653 w 812409"/>
              <a:gd name="connsiteY197" fmla="*/ 939018 h 1564151"/>
              <a:gd name="connsiteX198" fmla="*/ 0 w 812409"/>
              <a:gd name="connsiteY198" fmla="*/ 970670 h 1564151"/>
              <a:gd name="connsiteX199" fmla="*/ 31653 w 812409"/>
              <a:gd name="connsiteY199" fmla="*/ 1002323 h 1564151"/>
              <a:gd name="connsiteX200" fmla="*/ 31653 w 812409"/>
              <a:gd name="connsiteY200" fmla="*/ 815047 h 1564151"/>
              <a:gd name="connsiteX201" fmla="*/ 63304 w 812409"/>
              <a:gd name="connsiteY201" fmla="*/ 783395 h 1564151"/>
              <a:gd name="connsiteX202" fmla="*/ 31653 w 812409"/>
              <a:gd name="connsiteY202" fmla="*/ 751742 h 1564151"/>
              <a:gd name="connsiteX203" fmla="*/ 0 w 812409"/>
              <a:gd name="connsiteY203" fmla="*/ 783395 h 1564151"/>
              <a:gd name="connsiteX204" fmla="*/ 31653 w 812409"/>
              <a:gd name="connsiteY204" fmla="*/ 815047 h 1564151"/>
              <a:gd name="connsiteX205" fmla="*/ 31653 w 812409"/>
              <a:gd name="connsiteY205" fmla="*/ 627770 h 1564151"/>
              <a:gd name="connsiteX206" fmla="*/ 63304 w 812409"/>
              <a:gd name="connsiteY206" fmla="*/ 596118 h 1564151"/>
              <a:gd name="connsiteX207" fmla="*/ 31653 w 812409"/>
              <a:gd name="connsiteY207" fmla="*/ 564466 h 1564151"/>
              <a:gd name="connsiteX208" fmla="*/ 0 w 812409"/>
              <a:gd name="connsiteY208" fmla="*/ 596118 h 1564151"/>
              <a:gd name="connsiteX209" fmla="*/ 31653 w 812409"/>
              <a:gd name="connsiteY209" fmla="*/ 627770 h 1564151"/>
              <a:gd name="connsiteX210" fmla="*/ 31653 w 812409"/>
              <a:gd name="connsiteY210" fmla="*/ 440495 h 1564151"/>
              <a:gd name="connsiteX211" fmla="*/ 63304 w 812409"/>
              <a:gd name="connsiteY211" fmla="*/ 408842 h 1564151"/>
              <a:gd name="connsiteX212" fmla="*/ 31653 w 812409"/>
              <a:gd name="connsiteY212" fmla="*/ 377190 h 1564151"/>
              <a:gd name="connsiteX213" fmla="*/ 0 w 812409"/>
              <a:gd name="connsiteY213" fmla="*/ 408842 h 1564151"/>
              <a:gd name="connsiteX214" fmla="*/ 31653 w 812409"/>
              <a:gd name="connsiteY214" fmla="*/ 440495 h 1564151"/>
              <a:gd name="connsiteX215" fmla="*/ 31653 w 812409"/>
              <a:gd name="connsiteY215" fmla="*/ 253218 h 1564151"/>
              <a:gd name="connsiteX216" fmla="*/ 63304 w 812409"/>
              <a:gd name="connsiteY216" fmla="*/ 221566 h 1564151"/>
              <a:gd name="connsiteX217" fmla="*/ 31653 w 812409"/>
              <a:gd name="connsiteY217" fmla="*/ 189914 h 1564151"/>
              <a:gd name="connsiteX218" fmla="*/ 0 w 812409"/>
              <a:gd name="connsiteY218" fmla="*/ 221566 h 1564151"/>
              <a:gd name="connsiteX219" fmla="*/ 31653 w 812409"/>
              <a:gd name="connsiteY219" fmla="*/ 253218 h 1564151"/>
              <a:gd name="connsiteX220" fmla="*/ 31653 w 812409"/>
              <a:gd name="connsiteY220" fmla="*/ 65942 h 1564151"/>
              <a:gd name="connsiteX221" fmla="*/ 63304 w 812409"/>
              <a:gd name="connsiteY221" fmla="*/ 34290 h 1564151"/>
              <a:gd name="connsiteX222" fmla="*/ 31653 w 812409"/>
              <a:gd name="connsiteY222" fmla="*/ 2637 h 1564151"/>
              <a:gd name="connsiteX223" fmla="*/ 0 w 812409"/>
              <a:gd name="connsiteY223" fmla="*/ 34290 h 1564151"/>
              <a:gd name="connsiteX224" fmla="*/ 31653 w 812409"/>
              <a:gd name="connsiteY224" fmla="*/ 65942 h 1564151"/>
            </a:gdLst>
            <a:ahLst/>
            <a:cxnLst/>
            <a:rect l="l" t="t" r="r" b="b"/>
            <a:pathLst>
              <a:path w="812409" h="1564151">
                <a:moveTo>
                  <a:pt x="0" y="1532499"/>
                </a:moveTo>
                <a:cubicBezTo>
                  <a:pt x="0" y="1550963"/>
                  <a:pt x="15826" y="1564151"/>
                  <a:pt x="31653" y="1564151"/>
                </a:cubicBezTo>
                <a:cubicBezTo>
                  <a:pt x="50116" y="1564151"/>
                  <a:pt x="63304" y="1548325"/>
                  <a:pt x="63304" y="1532499"/>
                </a:cubicBezTo>
                <a:cubicBezTo>
                  <a:pt x="63304" y="1516673"/>
                  <a:pt x="47479" y="1500847"/>
                  <a:pt x="31653" y="1500847"/>
                </a:cubicBezTo>
                <a:cubicBezTo>
                  <a:pt x="13188" y="1500847"/>
                  <a:pt x="0" y="1516673"/>
                  <a:pt x="0" y="1532499"/>
                </a:cubicBezTo>
                <a:close/>
                <a:moveTo>
                  <a:pt x="187276" y="1532499"/>
                </a:moveTo>
                <a:cubicBezTo>
                  <a:pt x="187276" y="1550963"/>
                  <a:pt x="203103" y="1564151"/>
                  <a:pt x="218929" y="1564151"/>
                </a:cubicBezTo>
                <a:cubicBezTo>
                  <a:pt x="237392" y="1564151"/>
                  <a:pt x="250581" y="1548325"/>
                  <a:pt x="250581" y="1532499"/>
                </a:cubicBezTo>
                <a:cubicBezTo>
                  <a:pt x="250581" y="1516673"/>
                  <a:pt x="234754" y="1500847"/>
                  <a:pt x="218929" y="1500847"/>
                </a:cubicBezTo>
                <a:cubicBezTo>
                  <a:pt x="200465" y="1500847"/>
                  <a:pt x="187276" y="1516673"/>
                  <a:pt x="187276" y="1532499"/>
                </a:cubicBezTo>
                <a:close/>
                <a:moveTo>
                  <a:pt x="374553" y="1532499"/>
                </a:moveTo>
                <a:cubicBezTo>
                  <a:pt x="374553" y="1550963"/>
                  <a:pt x="390379" y="1564151"/>
                  <a:pt x="406204" y="1564151"/>
                </a:cubicBezTo>
                <a:cubicBezTo>
                  <a:pt x="424669" y="1564151"/>
                  <a:pt x="437857" y="1548325"/>
                  <a:pt x="437857" y="1532499"/>
                </a:cubicBezTo>
                <a:cubicBezTo>
                  <a:pt x="437857" y="1516673"/>
                  <a:pt x="422031" y="1500847"/>
                  <a:pt x="406204" y="1500847"/>
                </a:cubicBezTo>
                <a:cubicBezTo>
                  <a:pt x="387741" y="1500847"/>
                  <a:pt x="374553" y="1516673"/>
                  <a:pt x="374553" y="1532499"/>
                </a:cubicBezTo>
                <a:close/>
                <a:moveTo>
                  <a:pt x="561829" y="1532499"/>
                </a:moveTo>
                <a:cubicBezTo>
                  <a:pt x="561829" y="1550963"/>
                  <a:pt x="577654" y="1564151"/>
                  <a:pt x="593481" y="1564151"/>
                </a:cubicBezTo>
                <a:cubicBezTo>
                  <a:pt x="611945" y="1564151"/>
                  <a:pt x="625133" y="1548325"/>
                  <a:pt x="625133" y="1532499"/>
                </a:cubicBezTo>
                <a:cubicBezTo>
                  <a:pt x="625133" y="1516673"/>
                  <a:pt x="609307" y="1500847"/>
                  <a:pt x="593481" y="1500847"/>
                </a:cubicBezTo>
                <a:cubicBezTo>
                  <a:pt x="575017" y="1500847"/>
                  <a:pt x="561829" y="1516673"/>
                  <a:pt x="561829" y="1532499"/>
                </a:cubicBezTo>
                <a:close/>
                <a:moveTo>
                  <a:pt x="749104" y="1532499"/>
                </a:moveTo>
                <a:cubicBezTo>
                  <a:pt x="749104" y="1550963"/>
                  <a:pt x="764931" y="1564151"/>
                  <a:pt x="780757" y="1564151"/>
                </a:cubicBezTo>
                <a:cubicBezTo>
                  <a:pt x="799221" y="1564151"/>
                  <a:pt x="812410" y="1548325"/>
                  <a:pt x="812410" y="1532499"/>
                </a:cubicBezTo>
                <a:cubicBezTo>
                  <a:pt x="812410" y="1516673"/>
                  <a:pt x="796583" y="1500847"/>
                  <a:pt x="780757" y="1500847"/>
                </a:cubicBezTo>
                <a:cubicBezTo>
                  <a:pt x="764931" y="1500847"/>
                  <a:pt x="749104" y="1516673"/>
                  <a:pt x="749104" y="1532499"/>
                </a:cubicBezTo>
                <a:close/>
                <a:moveTo>
                  <a:pt x="187276" y="1345223"/>
                </a:moveTo>
                <a:cubicBezTo>
                  <a:pt x="187276" y="1363687"/>
                  <a:pt x="203103" y="1376875"/>
                  <a:pt x="218929" y="1376875"/>
                </a:cubicBezTo>
                <a:cubicBezTo>
                  <a:pt x="237392" y="1376875"/>
                  <a:pt x="250581" y="1361049"/>
                  <a:pt x="250581" y="1345223"/>
                </a:cubicBezTo>
                <a:cubicBezTo>
                  <a:pt x="250581" y="1326759"/>
                  <a:pt x="234754" y="1313571"/>
                  <a:pt x="218929" y="1313571"/>
                </a:cubicBezTo>
                <a:cubicBezTo>
                  <a:pt x="200465" y="1313571"/>
                  <a:pt x="187276" y="1326759"/>
                  <a:pt x="187276" y="1345223"/>
                </a:cubicBezTo>
                <a:close/>
                <a:moveTo>
                  <a:pt x="374553" y="1345223"/>
                </a:moveTo>
                <a:cubicBezTo>
                  <a:pt x="374553" y="1363687"/>
                  <a:pt x="390379" y="1376875"/>
                  <a:pt x="406204" y="1376875"/>
                </a:cubicBezTo>
                <a:cubicBezTo>
                  <a:pt x="424669" y="1376875"/>
                  <a:pt x="437857" y="1361049"/>
                  <a:pt x="437857" y="1345223"/>
                </a:cubicBezTo>
                <a:cubicBezTo>
                  <a:pt x="437857" y="1326759"/>
                  <a:pt x="422031" y="1313571"/>
                  <a:pt x="406204" y="1313571"/>
                </a:cubicBezTo>
                <a:cubicBezTo>
                  <a:pt x="387741" y="1313571"/>
                  <a:pt x="374553" y="1326759"/>
                  <a:pt x="374553" y="1345223"/>
                </a:cubicBezTo>
                <a:close/>
                <a:moveTo>
                  <a:pt x="561829" y="1345223"/>
                </a:moveTo>
                <a:cubicBezTo>
                  <a:pt x="561829" y="1363687"/>
                  <a:pt x="577654" y="1376875"/>
                  <a:pt x="593481" y="1376875"/>
                </a:cubicBezTo>
                <a:cubicBezTo>
                  <a:pt x="611945" y="1376875"/>
                  <a:pt x="625133" y="1361049"/>
                  <a:pt x="625133" y="1345223"/>
                </a:cubicBezTo>
                <a:cubicBezTo>
                  <a:pt x="625133" y="1326759"/>
                  <a:pt x="609307" y="1313571"/>
                  <a:pt x="593481" y="1313571"/>
                </a:cubicBezTo>
                <a:cubicBezTo>
                  <a:pt x="575017" y="1313571"/>
                  <a:pt x="561829" y="1326759"/>
                  <a:pt x="561829" y="1345223"/>
                </a:cubicBezTo>
                <a:close/>
                <a:moveTo>
                  <a:pt x="749104" y="1345223"/>
                </a:moveTo>
                <a:cubicBezTo>
                  <a:pt x="749104" y="1363687"/>
                  <a:pt x="764931" y="1376875"/>
                  <a:pt x="780757" y="1376875"/>
                </a:cubicBezTo>
                <a:cubicBezTo>
                  <a:pt x="799221" y="1376875"/>
                  <a:pt x="812410" y="1361049"/>
                  <a:pt x="812410" y="1345223"/>
                </a:cubicBezTo>
                <a:cubicBezTo>
                  <a:pt x="812410" y="1326759"/>
                  <a:pt x="796583" y="1313571"/>
                  <a:pt x="780757" y="1313571"/>
                </a:cubicBezTo>
                <a:cubicBezTo>
                  <a:pt x="764931" y="1313571"/>
                  <a:pt x="749104" y="1326759"/>
                  <a:pt x="749104" y="1345223"/>
                </a:cubicBezTo>
                <a:close/>
                <a:moveTo>
                  <a:pt x="187276" y="1157947"/>
                </a:moveTo>
                <a:cubicBezTo>
                  <a:pt x="187276" y="1176411"/>
                  <a:pt x="203103" y="1189599"/>
                  <a:pt x="218929" y="1189599"/>
                </a:cubicBezTo>
                <a:cubicBezTo>
                  <a:pt x="237392" y="1189599"/>
                  <a:pt x="250581" y="1173773"/>
                  <a:pt x="250581" y="1157947"/>
                </a:cubicBezTo>
                <a:cubicBezTo>
                  <a:pt x="250581" y="1139483"/>
                  <a:pt x="234754" y="1126295"/>
                  <a:pt x="218929" y="1126295"/>
                </a:cubicBezTo>
                <a:cubicBezTo>
                  <a:pt x="200465" y="1126295"/>
                  <a:pt x="187276" y="1139483"/>
                  <a:pt x="187276" y="1157947"/>
                </a:cubicBezTo>
                <a:close/>
                <a:moveTo>
                  <a:pt x="374553" y="1157947"/>
                </a:moveTo>
                <a:cubicBezTo>
                  <a:pt x="374553" y="1176411"/>
                  <a:pt x="390379" y="1189599"/>
                  <a:pt x="406204" y="1189599"/>
                </a:cubicBezTo>
                <a:cubicBezTo>
                  <a:pt x="424669" y="1189599"/>
                  <a:pt x="437857" y="1173773"/>
                  <a:pt x="437857" y="1157947"/>
                </a:cubicBezTo>
                <a:cubicBezTo>
                  <a:pt x="437857" y="1139483"/>
                  <a:pt x="422031" y="1126295"/>
                  <a:pt x="406204" y="1126295"/>
                </a:cubicBezTo>
                <a:cubicBezTo>
                  <a:pt x="387741" y="1126295"/>
                  <a:pt x="374553" y="1139483"/>
                  <a:pt x="374553" y="1157947"/>
                </a:cubicBezTo>
                <a:close/>
                <a:moveTo>
                  <a:pt x="561829" y="1157947"/>
                </a:moveTo>
                <a:cubicBezTo>
                  <a:pt x="561829" y="1176411"/>
                  <a:pt x="577654" y="1189599"/>
                  <a:pt x="593481" y="1189599"/>
                </a:cubicBezTo>
                <a:cubicBezTo>
                  <a:pt x="611945" y="1189599"/>
                  <a:pt x="625133" y="1173773"/>
                  <a:pt x="625133" y="1157947"/>
                </a:cubicBezTo>
                <a:cubicBezTo>
                  <a:pt x="625133" y="1139483"/>
                  <a:pt x="609307" y="1126295"/>
                  <a:pt x="593481" y="1126295"/>
                </a:cubicBezTo>
                <a:cubicBezTo>
                  <a:pt x="575017" y="1126295"/>
                  <a:pt x="561829" y="1139483"/>
                  <a:pt x="561829" y="1157947"/>
                </a:cubicBezTo>
                <a:close/>
                <a:moveTo>
                  <a:pt x="749104" y="1157947"/>
                </a:moveTo>
                <a:cubicBezTo>
                  <a:pt x="749104" y="1176411"/>
                  <a:pt x="764931" y="1189599"/>
                  <a:pt x="780757" y="1189599"/>
                </a:cubicBezTo>
                <a:cubicBezTo>
                  <a:pt x="799221" y="1189599"/>
                  <a:pt x="812410" y="1173773"/>
                  <a:pt x="812410" y="1157947"/>
                </a:cubicBezTo>
                <a:cubicBezTo>
                  <a:pt x="812410" y="1139483"/>
                  <a:pt x="796583" y="1126295"/>
                  <a:pt x="780757" y="1126295"/>
                </a:cubicBezTo>
                <a:cubicBezTo>
                  <a:pt x="764931" y="1126295"/>
                  <a:pt x="749104" y="1139483"/>
                  <a:pt x="749104" y="1157947"/>
                </a:cubicBezTo>
                <a:close/>
                <a:moveTo>
                  <a:pt x="187276" y="970670"/>
                </a:moveTo>
                <a:cubicBezTo>
                  <a:pt x="187276" y="989135"/>
                  <a:pt x="203103" y="1002323"/>
                  <a:pt x="218929" y="1002323"/>
                </a:cubicBezTo>
                <a:cubicBezTo>
                  <a:pt x="237392" y="1002323"/>
                  <a:pt x="250581" y="986497"/>
                  <a:pt x="250581" y="970670"/>
                </a:cubicBezTo>
                <a:cubicBezTo>
                  <a:pt x="250581" y="952207"/>
                  <a:pt x="234754" y="939018"/>
                  <a:pt x="218929" y="939018"/>
                </a:cubicBezTo>
                <a:cubicBezTo>
                  <a:pt x="200465" y="939018"/>
                  <a:pt x="187276" y="952207"/>
                  <a:pt x="187276" y="970670"/>
                </a:cubicBezTo>
                <a:close/>
                <a:moveTo>
                  <a:pt x="374553" y="970670"/>
                </a:moveTo>
                <a:cubicBezTo>
                  <a:pt x="374553" y="989135"/>
                  <a:pt x="390379" y="1002323"/>
                  <a:pt x="406204" y="1002323"/>
                </a:cubicBezTo>
                <a:cubicBezTo>
                  <a:pt x="424669" y="1002323"/>
                  <a:pt x="437857" y="986497"/>
                  <a:pt x="437857" y="970670"/>
                </a:cubicBezTo>
                <a:cubicBezTo>
                  <a:pt x="437857" y="952207"/>
                  <a:pt x="422031" y="939018"/>
                  <a:pt x="406204" y="939018"/>
                </a:cubicBezTo>
                <a:cubicBezTo>
                  <a:pt x="387741" y="939018"/>
                  <a:pt x="374553" y="952207"/>
                  <a:pt x="374553" y="970670"/>
                </a:cubicBezTo>
                <a:close/>
                <a:moveTo>
                  <a:pt x="561829" y="970670"/>
                </a:moveTo>
                <a:cubicBezTo>
                  <a:pt x="561829" y="989135"/>
                  <a:pt x="577654" y="1002323"/>
                  <a:pt x="593481" y="1002323"/>
                </a:cubicBezTo>
                <a:cubicBezTo>
                  <a:pt x="611945" y="1002323"/>
                  <a:pt x="625133" y="986497"/>
                  <a:pt x="625133" y="970670"/>
                </a:cubicBezTo>
                <a:cubicBezTo>
                  <a:pt x="625133" y="952207"/>
                  <a:pt x="609307" y="939018"/>
                  <a:pt x="593481" y="939018"/>
                </a:cubicBezTo>
                <a:cubicBezTo>
                  <a:pt x="575017" y="939018"/>
                  <a:pt x="561829" y="952207"/>
                  <a:pt x="561829" y="970670"/>
                </a:cubicBezTo>
                <a:close/>
                <a:moveTo>
                  <a:pt x="749104" y="970670"/>
                </a:moveTo>
                <a:cubicBezTo>
                  <a:pt x="749104" y="989135"/>
                  <a:pt x="764931" y="1002323"/>
                  <a:pt x="780757" y="1002323"/>
                </a:cubicBezTo>
                <a:cubicBezTo>
                  <a:pt x="799221" y="1002323"/>
                  <a:pt x="812410" y="986497"/>
                  <a:pt x="812410" y="970670"/>
                </a:cubicBezTo>
                <a:cubicBezTo>
                  <a:pt x="812410" y="952207"/>
                  <a:pt x="796583" y="939018"/>
                  <a:pt x="780757" y="939018"/>
                </a:cubicBezTo>
                <a:cubicBezTo>
                  <a:pt x="764931" y="939018"/>
                  <a:pt x="749104" y="952207"/>
                  <a:pt x="749104" y="970670"/>
                </a:cubicBezTo>
                <a:close/>
                <a:moveTo>
                  <a:pt x="187276" y="783395"/>
                </a:moveTo>
                <a:cubicBezTo>
                  <a:pt x="187276" y="801858"/>
                  <a:pt x="203103" y="815047"/>
                  <a:pt x="218929" y="815047"/>
                </a:cubicBezTo>
                <a:cubicBezTo>
                  <a:pt x="237392" y="815047"/>
                  <a:pt x="250581" y="799220"/>
                  <a:pt x="250581" y="783395"/>
                </a:cubicBezTo>
                <a:cubicBezTo>
                  <a:pt x="250581" y="764931"/>
                  <a:pt x="234754" y="751742"/>
                  <a:pt x="218929" y="751742"/>
                </a:cubicBezTo>
                <a:cubicBezTo>
                  <a:pt x="200465" y="751742"/>
                  <a:pt x="187276" y="764931"/>
                  <a:pt x="187276" y="783395"/>
                </a:cubicBezTo>
                <a:close/>
                <a:moveTo>
                  <a:pt x="374553" y="783395"/>
                </a:moveTo>
                <a:cubicBezTo>
                  <a:pt x="374553" y="801858"/>
                  <a:pt x="390379" y="815047"/>
                  <a:pt x="406204" y="815047"/>
                </a:cubicBezTo>
                <a:cubicBezTo>
                  <a:pt x="424669" y="815047"/>
                  <a:pt x="437857" y="799220"/>
                  <a:pt x="437857" y="783395"/>
                </a:cubicBezTo>
                <a:cubicBezTo>
                  <a:pt x="437857" y="764931"/>
                  <a:pt x="422031" y="751742"/>
                  <a:pt x="406204" y="751742"/>
                </a:cubicBezTo>
                <a:cubicBezTo>
                  <a:pt x="387741" y="751742"/>
                  <a:pt x="374553" y="764931"/>
                  <a:pt x="374553" y="783395"/>
                </a:cubicBezTo>
                <a:close/>
                <a:moveTo>
                  <a:pt x="561829" y="783395"/>
                </a:moveTo>
                <a:cubicBezTo>
                  <a:pt x="561829" y="801858"/>
                  <a:pt x="577654" y="815047"/>
                  <a:pt x="593481" y="815047"/>
                </a:cubicBezTo>
                <a:cubicBezTo>
                  <a:pt x="611945" y="815047"/>
                  <a:pt x="625133" y="799220"/>
                  <a:pt x="625133" y="783395"/>
                </a:cubicBezTo>
                <a:cubicBezTo>
                  <a:pt x="625133" y="764931"/>
                  <a:pt x="609307" y="751742"/>
                  <a:pt x="593481" y="751742"/>
                </a:cubicBezTo>
                <a:cubicBezTo>
                  <a:pt x="575017" y="751742"/>
                  <a:pt x="561829" y="764931"/>
                  <a:pt x="561829" y="783395"/>
                </a:cubicBezTo>
                <a:close/>
                <a:moveTo>
                  <a:pt x="749104" y="783395"/>
                </a:moveTo>
                <a:cubicBezTo>
                  <a:pt x="749104" y="801858"/>
                  <a:pt x="764931" y="815047"/>
                  <a:pt x="780757" y="815047"/>
                </a:cubicBezTo>
                <a:cubicBezTo>
                  <a:pt x="799221" y="815047"/>
                  <a:pt x="812410" y="799220"/>
                  <a:pt x="812410" y="783395"/>
                </a:cubicBezTo>
                <a:cubicBezTo>
                  <a:pt x="812410" y="764931"/>
                  <a:pt x="796583" y="751742"/>
                  <a:pt x="780757" y="751742"/>
                </a:cubicBezTo>
                <a:cubicBezTo>
                  <a:pt x="764931" y="751742"/>
                  <a:pt x="749104" y="764931"/>
                  <a:pt x="749104" y="783395"/>
                </a:cubicBezTo>
                <a:close/>
                <a:moveTo>
                  <a:pt x="187276" y="596118"/>
                </a:moveTo>
                <a:cubicBezTo>
                  <a:pt x="187276" y="614582"/>
                  <a:pt x="203103" y="627770"/>
                  <a:pt x="218929" y="627770"/>
                </a:cubicBezTo>
                <a:cubicBezTo>
                  <a:pt x="237392" y="627770"/>
                  <a:pt x="250581" y="611945"/>
                  <a:pt x="250581" y="596118"/>
                </a:cubicBezTo>
                <a:cubicBezTo>
                  <a:pt x="250581" y="580292"/>
                  <a:pt x="234754" y="564466"/>
                  <a:pt x="218929" y="564466"/>
                </a:cubicBezTo>
                <a:cubicBezTo>
                  <a:pt x="200465" y="561828"/>
                  <a:pt x="187276" y="577654"/>
                  <a:pt x="187276" y="596118"/>
                </a:cubicBezTo>
                <a:close/>
                <a:moveTo>
                  <a:pt x="374553" y="596118"/>
                </a:moveTo>
                <a:cubicBezTo>
                  <a:pt x="374553" y="614582"/>
                  <a:pt x="390379" y="627770"/>
                  <a:pt x="406204" y="627770"/>
                </a:cubicBezTo>
                <a:cubicBezTo>
                  <a:pt x="424669" y="627770"/>
                  <a:pt x="437857" y="611945"/>
                  <a:pt x="437857" y="596118"/>
                </a:cubicBezTo>
                <a:cubicBezTo>
                  <a:pt x="437857" y="580292"/>
                  <a:pt x="422031" y="564466"/>
                  <a:pt x="406204" y="564466"/>
                </a:cubicBezTo>
                <a:cubicBezTo>
                  <a:pt x="387741" y="561828"/>
                  <a:pt x="374553" y="577654"/>
                  <a:pt x="374553" y="596118"/>
                </a:cubicBezTo>
                <a:close/>
                <a:moveTo>
                  <a:pt x="561829" y="596118"/>
                </a:moveTo>
                <a:cubicBezTo>
                  <a:pt x="561829" y="614582"/>
                  <a:pt x="577654" y="627770"/>
                  <a:pt x="593481" y="627770"/>
                </a:cubicBezTo>
                <a:cubicBezTo>
                  <a:pt x="611945" y="627770"/>
                  <a:pt x="625133" y="611945"/>
                  <a:pt x="625133" y="596118"/>
                </a:cubicBezTo>
                <a:cubicBezTo>
                  <a:pt x="625133" y="580292"/>
                  <a:pt x="609307" y="564466"/>
                  <a:pt x="593481" y="564466"/>
                </a:cubicBezTo>
                <a:cubicBezTo>
                  <a:pt x="575017" y="561828"/>
                  <a:pt x="561829" y="577654"/>
                  <a:pt x="561829" y="596118"/>
                </a:cubicBezTo>
                <a:close/>
                <a:moveTo>
                  <a:pt x="749104" y="596118"/>
                </a:moveTo>
                <a:cubicBezTo>
                  <a:pt x="749104" y="614582"/>
                  <a:pt x="764931" y="627770"/>
                  <a:pt x="780757" y="627770"/>
                </a:cubicBezTo>
                <a:cubicBezTo>
                  <a:pt x="799221" y="627770"/>
                  <a:pt x="812410" y="611945"/>
                  <a:pt x="812410" y="596118"/>
                </a:cubicBezTo>
                <a:cubicBezTo>
                  <a:pt x="812410" y="580292"/>
                  <a:pt x="796583" y="564466"/>
                  <a:pt x="780757" y="564466"/>
                </a:cubicBezTo>
                <a:cubicBezTo>
                  <a:pt x="764931" y="561828"/>
                  <a:pt x="749104" y="577654"/>
                  <a:pt x="749104" y="596118"/>
                </a:cubicBezTo>
                <a:close/>
                <a:moveTo>
                  <a:pt x="187276" y="408842"/>
                </a:moveTo>
                <a:cubicBezTo>
                  <a:pt x="187276" y="427306"/>
                  <a:pt x="203103" y="440495"/>
                  <a:pt x="218929" y="440495"/>
                </a:cubicBezTo>
                <a:cubicBezTo>
                  <a:pt x="237392" y="440495"/>
                  <a:pt x="250581" y="424668"/>
                  <a:pt x="250581" y="408842"/>
                </a:cubicBezTo>
                <a:cubicBezTo>
                  <a:pt x="250581" y="390378"/>
                  <a:pt x="234754" y="377190"/>
                  <a:pt x="218929" y="377190"/>
                </a:cubicBezTo>
                <a:cubicBezTo>
                  <a:pt x="200465" y="374552"/>
                  <a:pt x="187276" y="390378"/>
                  <a:pt x="187276" y="408842"/>
                </a:cubicBezTo>
                <a:close/>
                <a:moveTo>
                  <a:pt x="374553" y="408842"/>
                </a:moveTo>
                <a:cubicBezTo>
                  <a:pt x="374553" y="427306"/>
                  <a:pt x="390379" y="440495"/>
                  <a:pt x="406204" y="440495"/>
                </a:cubicBezTo>
                <a:cubicBezTo>
                  <a:pt x="424669" y="440495"/>
                  <a:pt x="437857" y="424668"/>
                  <a:pt x="437857" y="408842"/>
                </a:cubicBezTo>
                <a:cubicBezTo>
                  <a:pt x="437857" y="390378"/>
                  <a:pt x="422031" y="377190"/>
                  <a:pt x="406204" y="377190"/>
                </a:cubicBezTo>
                <a:cubicBezTo>
                  <a:pt x="387741" y="374552"/>
                  <a:pt x="374553" y="390378"/>
                  <a:pt x="374553" y="408842"/>
                </a:cubicBezTo>
                <a:close/>
                <a:moveTo>
                  <a:pt x="561829" y="408842"/>
                </a:moveTo>
                <a:cubicBezTo>
                  <a:pt x="561829" y="427306"/>
                  <a:pt x="577654" y="440495"/>
                  <a:pt x="593481" y="440495"/>
                </a:cubicBezTo>
                <a:cubicBezTo>
                  <a:pt x="611945" y="440495"/>
                  <a:pt x="625133" y="424668"/>
                  <a:pt x="625133" y="408842"/>
                </a:cubicBezTo>
                <a:cubicBezTo>
                  <a:pt x="625133" y="390378"/>
                  <a:pt x="609307" y="377190"/>
                  <a:pt x="593481" y="377190"/>
                </a:cubicBezTo>
                <a:cubicBezTo>
                  <a:pt x="575017" y="374552"/>
                  <a:pt x="561829" y="390378"/>
                  <a:pt x="561829" y="408842"/>
                </a:cubicBezTo>
                <a:close/>
                <a:moveTo>
                  <a:pt x="749104" y="408842"/>
                </a:moveTo>
                <a:cubicBezTo>
                  <a:pt x="749104" y="427306"/>
                  <a:pt x="764931" y="440495"/>
                  <a:pt x="780757" y="440495"/>
                </a:cubicBezTo>
                <a:cubicBezTo>
                  <a:pt x="799221" y="440495"/>
                  <a:pt x="812410" y="424668"/>
                  <a:pt x="812410" y="408842"/>
                </a:cubicBezTo>
                <a:cubicBezTo>
                  <a:pt x="812410" y="390378"/>
                  <a:pt x="796583" y="377190"/>
                  <a:pt x="780757" y="377190"/>
                </a:cubicBezTo>
                <a:cubicBezTo>
                  <a:pt x="764931" y="374552"/>
                  <a:pt x="749104" y="390378"/>
                  <a:pt x="749104" y="408842"/>
                </a:cubicBezTo>
                <a:close/>
                <a:moveTo>
                  <a:pt x="187276" y="218928"/>
                </a:moveTo>
                <a:cubicBezTo>
                  <a:pt x="187276" y="237392"/>
                  <a:pt x="203103" y="250581"/>
                  <a:pt x="218929" y="250581"/>
                </a:cubicBezTo>
                <a:cubicBezTo>
                  <a:pt x="237392" y="250581"/>
                  <a:pt x="250581" y="234754"/>
                  <a:pt x="250581" y="218928"/>
                </a:cubicBezTo>
                <a:cubicBezTo>
                  <a:pt x="250581" y="200464"/>
                  <a:pt x="234754" y="187276"/>
                  <a:pt x="218929" y="187276"/>
                </a:cubicBezTo>
                <a:cubicBezTo>
                  <a:pt x="200465" y="187276"/>
                  <a:pt x="187276" y="203102"/>
                  <a:pt x="187276" y="218928"/>
                </a:cubicBezTo>
                <a:close/>
                <a:moveTo>
                  <a:pt x="374553" y="218928"/>
                </a:moveTo>
                <a:cubicBezTo>
                  <a:pt x="374553" y="237392"/>
                  <a:pt x="390379" y="250581"/>
                  <a:pt x="406204" y="250581"/>
                </a:cubicBezTo>
                <a:cubicBezTo>
                  <a:pt x="424669" y="250581"/>
                  <a:pt x="437857" y="234754"/>
                  <a:pt x="437857" y="218928"/>
                </a:cubicBezTo>
                <a:cubicBezTo>
                  <a:pt x="437857" y="200464"/>
                  <a:pt x="422031" y="187276"/>
                  <a:pt x="406204" y="187276"/>
                </a:cubicBezTo>
                <a:cubicBezTo>
                  <a:pt x="387741" y="187276"/>
                  <a:pt x="374553" y="203102"/>
                  <a:pt x="374553" y="218928"/>
                </a:cubicBezTo>
                <a:close/>
                <a:moveTo>
                  <a:pt x="561829" y="218928"/>
                </a:moveTo>
                <a:cubicBezTo>
                  <a:pt x="561829" y="237392"/>
                  <a:pt x="577654" y="250581"/>
                  <a:pt x="593481" y="250581"/>
                </a:cubicBezTo>
                <a:cubicBezTo>
                  <a:pt x="611945" y="250581"/>
                  <a:pt x="625133" y="234754"/>
                  <a:pt x="625133" y="218928"/>
                </a:cubicBezTo>
                <a:cubicBezTo>
                  <a:pt x="625133" y="200464"/>
                  <a:pt x="609307" y="187276"/>
                  <a:pt x="593481" y="187276"/>
                </a:cubicBezTo>
                <a:cubicBezTo>
                  <a:pt x="575017" y="187276"/>
                  <a:pt x="561829" y="203102"/>
                  <a:pt x="561829" y="218928"/>
                </a:cubicBezTo>
                <a:close/>
                <a:moveTo>
                  <a:pt x="749104" y="218928"/>
                </a:moveTo>
                <a:cubicBezTo>
                  <a:pt x="749104" y="237392"/>
                  <a:pt x="764931" y="250581"/>
                  <a:pt x="780757" y="250581"/>
                </a:cubicBezTo>
                <a:cubicBezTo>
                  <a:pt x="799221" y="250581"/>
                  <a:pt x="812410" y="234754"/>
                  <a:pt x="812410" y="218928"/>
                </a:cubicBezTo>
                <a:cubicBezTo>
                  <a:pt x="812410" y="200464"/>
                  <a:pt x="796583" y="187276"/>
                  <a:pt x="780757" y="187276"/>
                </a:cubicBezTo>
                <a:cubicBezTo>
                  <a:pt x="764931" y="187276"/>
                  <a:pt x="749104" y="203102"/>
                  <a:pt x="749104" y="218928"/>
                </a:cubicBezTo>
                <a:close/>
                <a:moveTo>
                  <a:pt x="187276" y="31652"/>
                </a:moveTo>
                <a:cubicBezTo>
                  <a:pt x="187276" y="50116"/>
                  <a:pt x="203103" y="63304"/>
                  <a:pt x="218929" y="63304"/>
                </a:cubicBezTo>
                <a:cubicBezTo>
                  <a:pt x="237392" y="63304"/>
                  <a:pt x="250581" y="47478"/>
                  <a:pt x="250581" y="31652"/>
                </a:cubicBezTo>
                <a:cubicBezTo>
                  <a:pt x="250581" y="15826"/>
                  <a:pt x="234754" y="0"/>
                  <a:pt x="218929" y="0"/>
                </a:cubicBezTo>
                <a:cubicBezTo>
                  <a:pt x="200465" y="0"/>
                  <a:pt x="187276" y="15826"/>
                  <a:pt x="187276" y="31652"/>
                </a:cubicBezTo>
                <a:close/>
                <a:moveTo>
                  <a:pt x="374553" y="31652"/>
                </a:moveTo>
                <a:cubicBezTo>
                  <a:pt x="374553" y="50116"/>
                  <a:pt x="390379" y="63304"/>
                  <a:pt x="406204" y="63304"/>
                </a:cubicBezTo>
                <a:cubicBezTo>
                  <a:pt x="424669" y="63304"/>
                  <a:pt x="437857" y="47478"/>
                  <a:pt x="437857" y="31652"/>
                </a:cubicBezTo>
                <a:cubicBezTo>
                  <a:pt x="437857" y="15826"/>
                  <a:pt x="422031" y="0"/>
                  <a:pt x="406204" y="0"/>
                </a:cubicBezTo>
                <a:cubicBezTo>
                  <a:pt x="387741" y="0"/>
                  <a:pt x="374553" y="15826"/>
                  <a:pt x="374553" y="31652"/>
                </a:cubicBezTo>
                <a:close/>
                <a:moveTo>
                  <a:pt x="561829" y="31652"/>
                </a:moveTo>
                <a:cubicBezTo>
                  <a:pt x="561829" y="50116"/>
                  <a:pt x="577654" y="63304"/>
                  <a:pt x="593481" y="63304"/>
                </a:cubicBezTo>
                <a:cubicBezTo>
                  <a:pt x="611945" y="63304"/>
                  <a:pt x="625133" y="47478"/>
                  <a:pt x="625133" y="31652"/>
                </a:cubicBezTo>
                <a:cubicBezTo>
                  <a:pt x="625133" y="15826"/>
                  <a:pt x="609307" y="0"/>
                  <a:pt x="593481" y="0"/>
                </a:cubicBezTo>
                <a:cubicBezTo>
                  <a:pt x="575017" y="0"/>
                  <a:pt x="561829" y="15826"/>
                  <a:pt x="561829" y="31652"/>
                </a:cubicBezTo>
                <a:close/>
                <a:moveTo>
                  <a:pt x="749104" y="31652"/>
                </a:moveTo>
                <a:cubicBezTo>
                  <a:pt x="749104" y="50116"/>
                  <a:pt x="764931" y="63304"/>
                  <a:pt x="780757" y="63304"/>
                </a:cubicBezTo>
                <a:cubicBezTo>
                  <a:pt x="799221" y="63304"/>
                  <a:pt x="812410" y="47478"/>
                  <a:pt x="812410" y="31652"/>
                </a:cubicBezTo>
                <a:cubicBezTo>
                  <a:pt x="812410" y="15826"/>
                  <a:pt x="796583" y="0"/>
                  <a:pt x="780757" y="0"/>
                </a:cubicBezTo>
                <a:cubicBezTo>
                  <a:pt x="764931" y="0"/>
                  <a:pt x="749104" y="15826"/>
                  <a:pt x="749104" y="31652"/>
                </a:cubicBezTo>
                <a:close/>
                <a:moveTo>
                  <a:pt x="31653" y="1379513"/>
                </a:moveTo>
                <a:cubicBezTo>
                  <a:pt x="50116" y="1379513"/>
                  <a:pt x="63304" y="1363687"/>
                  <a:pt x="63304" y="1347861"/>
                </a:cubicBezTo>
                <a:cubicBezTo>
                  <a:pt x="63304" y="1329397"/>
                  <a:pt x="47479" y="1316208"/>
                  <a:pt x="31653" y="1316208"/>
                </a:cubicBezTo>
                <a:cubicBezTo>
                  <a:pt x="13188" y="1316208"/>
                  <a:pt x="0" y="1332035"/>
                  <a:pt x="0" y="1347861"/>
                </a:cubicBezTo>
                <a:cubicBezTo>
                  <a:pt x="0" y="1363687"/>
                  <a:pt x="13188" y="1379513"/>
                  <a:pt x="31653" y="1379513"/>
                </a:cubicBezTo>
                <a:close/>
                <a:moveTo>
                  <a:pt x="31653" y="1189599"/>
                </a:moveTo>
                <a:cubicBezTo>
                  <a:pt x="50116" y="1189599"/>
                  <a:pt x="63304" y="1173773"/>
                  <a:pt x="63304" y="1157947"/>
                </a:cubicBezTo>
                <a:cubicBezTo>
                  <a:pt x="63304" y="1139483"/>
                  <a:pt x="47479" y="1126295"/>
                  <a:pt x="31653" y="1126295"/>
                </a:cubicBezTo>
                <a:cubicBezTo>
                  <a:pt x="13188" y="1126295"/>
                  <a:pt x="0" y="1142121"/>
                  <a:pt x="0" y="1157947"/>
                </a:cubicBezTo>
                <a:cubicBezTo>
                  <a:pt x="0" y="1176411"/>
                  <a:pt x="13188" y="1189599"/>
                  <a:pt x="31653" y="1189599"/>
                </a:cubicBezTo>
                <a:close/>
                <a:moveTo>
                  <a:pt x="31653" y="1002323"/>
                </a:moveTo>
                <a:cubicBezTo>
                  <a:pt x="50116" y="1002323"/>
                  <a:pt x="63304" y="986497"/>
                  <a:pt x="63304" y="970670"/>
                </a:cubicBezTo>
                <a:cubicBezTo>
                  <a:pt x="63304" y="952207"/>
                  <a:pt x="47479" y="939018"/>
                  <a:pt x="31653" y="939018"/>
                </a:cubicBezTo>
                <a:cubicBezTo>
                  <a:pt x="13188" y="939018"/>
                  <a:pt x="0" y="954845"/>
                  <a:pt x="0" y="970670"/>
                </a:cubicBezTo>
                <a:cubicBezTo>
                  <a:pt x="0" y="989135"/>
                  <a:pt x="13188" y="1002323"/>
                  <a:pt x="31653" y="1002323"/>
                </a:cubicBezTo>
                <a:close/>
                <a:moveTo>
                  <a:pt x="31653" y="815047"/>
                </a:moveTo>
                <a:cubicBezTo>
                  <a:pt x="50116" y="815047"/>
                  <a:pt x="63304" y="799220"/>
                  <a:pt x="63304" y="783395"/>
                </a:cubicBezTo>
                <a:cubicBezTo>
                  <a:pt x="63304" y="764931"/>
                  <a:pt x="47479" y="751742"/>
                  <a:pt x="31653" y="751742"/>
                </a:cubicBezTo>
                <a:cubicBezTo>
                  <a:pt x="13188" y="751742"/>
                  <a:pt x="0" y="767568"/>
                  <a:pt x="0" y="783395"/>
                </a:cubicBezTo>
                <a:cubicBezTo>
                  <a:pt x="0" y="801858"/>
                  <a:pt x="13188" y="815047"/>
                  <a:pt x="31653" y="815047"/>
                </a:cubicBezTo>
                <a:close/>
                <a:moveTo>
                  <a:pt x="31653" y="627770"/>
                </a:moveTo>
                <a:cubicBezTo>
                  <a:pt x="50116" y="627770"/>
                  <a:pt x="63304" y="611945"/>
                  <a:pt x="63304" y="596118"/>
                </a:cubicBezTo>
                <a:cubicBezTo>
                  <a:pt x="63304" y="580292"/>
                  <a:pt x="47479" y="564466"/>
                  <a:pt x="31653" y="564466"/>
                </a:cubicBezTo>
                <a:cubicBezTo>
                  <a:pt x="13188" y="564466"/>
                  <a:pt x="0" y="580292"/>
                  <a:pt x="0" y="596118"/>
                </a:cubicBezTo>
                <a:cubicBezTo>
                  <a:pt x="0" y="611945"/>
                  <a:pt x="13188" y="627770"/>
                  <a:pt x="31653" y="627770"/>
                </a:cubicBezTo>
                <a:close/>
                <a:moveTo>
                  <a:pt x="31653" y="440495"/>
                </a:moveTo>
                <a:cubicBezTo>
                  <a:pt x="50116" y="440495"/>
                  <a:pt x="63304" y="424668"/>
                  <a:pt x="63304" y="408842"/>
                </a:cubicBezTo>
                <a:cubicBezTo>
                  <a:pt x="63304" y="390378"/>
                  <a:pt x="47479" y="377190"/>
                  <a:pt x="31653" y="377190"/>
                </a:cubicBezTo>
                <a:cubicBezTo>
                  <a:pt x="13188" y="377190"/>
                  <a:pt x="0" y="393016"/>
                  <a:pt x="0" y="408842"/>
                </a:cubicBezTo>
                <a:cubicBezTo>
                  <a:pt x="0" y="424668"/>
                  <a:pt x="13188" y="440495"/>
                  <a:pt x="31653" y="440495"/>
                </a:cubicBezTo>
                <a:close/>
                <a:moveTo>
                  <a:pt x="31653" y="253218"/>
                </a:moveTo>
                <a:cubicBezTo>
                  <a:pt x="50116" y="253218"/>
                  <a:pt x="63304" y="237392"/>
                  <a:pt x="63304" y="221566"/>
                </a:cubicBezTo>
                <a:cubicBezTo>
                  <a:pt x="63304" y="203102"/>
                  <a:pt x="47479" y="189914"/>
                  <a:pt x="31653" y="189914"/>
                </a:cubicBezTo>
                <a:cubicBezTo>
                  <a:pt x="13188" y="189914"/>
                  <a:pt x="0" y="205740"/>
                  <a:pt x="0" y="221566"/>
                </a:cubicBezTo>
                <a:cubicBezTo>
                  <a:pt x="0" y="237392"/>
                  <a:pt x="13188" y="253218"/>
                  <a:pt x="31653" y="253218"/>
                </a:cubicBezTo>
                <a:close/>
                <a:moveTo>
                  <a:pt x="31653" y="65942"/>
                </a:moveTo>
                <a:cubicBezTo>
                  <a:pt x="50116" y="65942"/>
                  <a:pt x="63304" y="50116"/>
                  <a:pt x="63304" y="34290"/>
                </a:cubicBezTo>
                <a:cubicBezTo>
                  <a:pt x="63304" y="18464"/>
                  <a:pt x="47479" y="2637"/>
                  <a:pt x="31653" y="2637"/>
                </a:cubicBezTo>
                <a:cubicBezTo>
                  <a:pt x="13188" y="2637"/>
                  <a:pt x="0" y="18464"/>
                  <a:pt x="0" y="34290"/>
                </a:cubicBezTo>
                <a:cubicBezTo>
                  <a:pt x="0" y="50116"/>
                  <a:pt x="13188" y="65942"/>
                  <a:pt x="31653" y="6594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 w="26366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-18001" y="183972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-18001" y="513755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-18001" y="1143341"/>
            <a:ext cx="6883735" cy="34068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5400000">
            <a:off x="990352" y="-762571"/>
            <a:ext cx="662686" cy="2821194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9000000" scaled="0"/>
          </a:gradFill>
          <a:ln w="9525" cap="flat">
            <a:solidFill>
              <a:srgbClr val="FFFFFF">
                <a:alpha val="100000"/>
              </a:srgbClr>
            </a:solidFill>
            <a:miter/>
          </a:ln>
          <a:effectLst>
            <a:outerShdw blurRad="114300" dist="38100" dir="2700000" algn="tl" rotWithShape="0">
              <a:schemeClr val="accent1">
                <a:alpha val="64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484162" y="535348"/>
            <a:ext cx="1814767" cy="225356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-18001" y="6325849"/>
            <a:ext cx="8727286" cy="2704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-18001" y="6587598"/>
            <a:ext cx="8727286" cy="27040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54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265FC"/>
      </a:accent1>
      <a:accent2>
        <a:srgbClr val="08BFF8"/>
      </a:accent2>
      <a:accent3>
        <a:srgbClr val="0265FC"/>
      </a:accent3>
      <a:accent4>
        <a:srgbClr val="08BFF8"/>
      </a:accent4>
      <a:accent5>
        <a:srgbClr val="0265FC"/>
      </a:accent5>
      <a:accent6>
        <a:srgbClr val="08BFF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265FC"/>
      </a:accent1>
      <a:accent2>
        <a:srgbClr val="08BFF8"/>
      </a:accent2>
      <a:accent3>
        <a:srgbClr val="0265FC"/>
      </a:accent3>
      <a:accent4>
        <a:srgbClr val="08BFF8"/>
      </a:accent4>
      <a:accent5>
        <a:srgbClr val="0265FC"/>
      </a:accent5>
      <a:accent6>
        <a:srgbClr val="08BFF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265FC"/>
      </a:accent1>
      <a:accent2>
        <a:srgbClr val="08BFF8"/>
      </a:accent2>
      <a:accent3>
        <a:srgbClr val="0265FC"/>
      </a:accent3>
      <a:accent4>
        <a:srgbClr val="08BFF8"/>
      </a:accent4>
      <a:accent5>
        <a:srgbClr val="0265FC"/>
      </a:accent5>
      <a:accent6>
        <a:srgbClr val="08BFF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2331</Words>
  <Application>WPS Presentation</Application>
  <PresentationFormat/>
  <Paragraphs>179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8" baseType="lpstr">
      <vt:lpstr>Arial</vt:lpstr>
      <vt:lpstr>SimSun</vt:lpstr>
      <vt:lpstr>Wingdings</vt:lpstr>
      <vt:lpstr>Source Han Sans CN Bold Bold</vt:lpstr>
      <vt:lpstr>Thonburi</vt:lpstr>
      <vt:lpstr>Source Han Sans CN Normal</vt:lpstr>
      <vt:lpstr>OPPOSans R</vt:lpstr>
      <vt:lpstr>OPPOSans H</vt:lpstr>
      <vt:lpstr>OPPOSans B</vt:lpstr>
      <vt:lpstr>等线</vt:lpstr>
      <vt:lpstr>苹方-简</vt:lpstr>
      <vt:lpstr>SimSun</vt:lpstr>
      <vt:lpstr>宋体-简</vt:lpstr>
      <vt:lpstr>Microsoft YaHei</vt:lpstr>
      <vt:lpstr>汉仪旗黑</vt:lpstr>
      <vt:lpstr>Arial Unicode MS</vt:lpstr>
      <vt:lpstr>Calibri</vt:lpstr>
      <vt:lpstr>Helvetica Neue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Vam Lake</cp:lastModifiedBy>
  <cp:revision>7</cp:revision>
  <dcterms:created xsi:type="dcterms:W3CDTF">2025-04-26T08:52:23Z</dcterms:created>
  <dcterms:modified xsi:type="dcterms:W3CDTF">2025-04-26T08:52:23Z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1033-5.6.0.8082</vt:lpwstr>
  </property>
</Properties>
</file>